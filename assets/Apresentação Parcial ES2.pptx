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handoutMasters/handoutMaster1.xml" ContentType="application/vnd.openxmlformats-officedocument.presentationml.handoutMaster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81" r:id="rId3"/>
    <p:sldId id="257" r:id="rId4"/>
    <p:sldId id="259" r:id="rId5"/>
    <p:sldId id="277" r:id="rId6"/>
    <p:sldId id="266" r:id="rId7"/>
    <p:sldId id="263" r:id="rId8"/>
    <p:sldId id="278" r:id="rId9"/>
    <p:sldId id="260" r:id="rId10"/>
    <p:sldId id="282" r:id="rId11"/>
    <p:sldId id="284" r:id="rId12"/>
    <p:sldId id="283" r:id="rId13"/>
    <p:sldId id="285" r:id="rId14"/>
    <p:sldId id="261" r:id="rId15"/>
    <p:sldId id="286" r:id="rId16"/>
    <p:sldId id="280" r:id="rId17"/>
  </p:sldIdLst>
  <p:sldSz cx="12192000" cy="6858000"/>
  <p:notesSz cx="6858000" cy="9144000"/>
  <p:embeddedFontLst>
    <p:embeddedFont>
      <p:font typeface="Arial Black" panose="020B0A04020102020204" charset="0"/>
      <p:bold r:id="rId23"/>
    </p:embeddedFont>
    <p:embeddedFont>
      <p:font typeface="Gilroy" panose="00000400000000000000" charset="0"/>
      <p:regular r:id="rId24"/>
    </p:embeddedFont>
    <p:embeddedFont>
      <p:font typeface="DM Serif Display" charset="0"/>
      <p:regular r:id="rId25"/>
      <p:italic r:id="rId26"/>
    </p:embeddedFont>
  </p:embeddedFontLst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8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3" userDrawn="1">
          <p15:clr>
            <a:srgbClr val="A4A3A4"/>
          </p15:clr>
        </p15:guide>
        <p15:guide id="4" pos="7219" userDrawn="1">
          <p15:clr>
            <a:srgbClr val="A4A3A4"/>
          </p15:clr>
        </p15:guide>
        <p15:guide id="5" orient="horz" pos="393" userDrawn="1">
          <p15:clr>
            <a:srgbClr val="A4A3A4"/>
          </p15:clr>
        </p15:guide>
        <p15:guide id="7" orient="horz" pos="802" userDrawn="1">
          <p15:clr>
            <a:srgbClr val="A4A3A4"/>
          </p15:clr>
        </p15:guide>
        <p15:guide id="8" orient="horz" pos="38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1195"/>
    <a:srgbClr val="1A3497"/>
    <a:srgbClr val="1B56A6"/>
    <a:srgbClr val="AF2EE2"/>
    <a:srgbClr val="030452"/>
    <a:srgbClr val="C44BAD"/>
    <a:srgbClr val="1B7FC0"/>
    <a:srgbClr val="E653AD"/>
    <a:srgbClr val="06023D"/>
    <a:srgbClr val="0204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374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348" y="78"/>
      </p:cViewPr>
      <p:guideLst>
        <p:guide orient="horz" pos="2108"/>
        <p:guide pos="3840"/>
        <p:guide pos="453"/>
        <p:guide pos="7219"/>
        <p:guide orient="horz" pos="393"/>
        <p:guide orient="horz" pos="802"/>
        <p:guide orient="horz" pos="389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1.xml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Arial" panose="020B0604020202020204" pitchFamily="34" charset="0"/>
                <a:ea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Arial" panose="020B0604020202020204" pitchFamily="34" charset="0"/>
                <a:ea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ea typeface="Arial" panose="020B0604020202020204" pitchFamily="3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Arial" panose="020B06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D21C1-192A-433B-AA91-106F9135B2A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5639C0-D7C8-48AA-AF63-0D692BECED2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8000">
              <a:srgbClr val="190985"/>
            </a:gs>
            <a:gs pos="100000">
              <a:srgbClr val="1B59A7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图片 89"/>
          <p:cNvPicPr>
            <a:picLocks noChangeAspect="1"/>
          </p:cNvPicPr>
          <p:nvPr/>
        </p:nvPicPr>
        <p:blipFill>
          <a:blip r:embed="rId1"/>
          <a:srcRect r="24556" b="42640"/>
          <a:stretch>
            <a:fillRect/>
          </a:stretch>
        </p:blipFill>
        <p:spPr>
          <a:xfrm>
            <a:off x="3595572" y="322166"/>
            <a:ext cx="8596428" cy="6535834"/>
          </a:xfrm>
          <a:custGeom>
            <a:avLst/>
            <a:gdLst>
              <a:gd name="connsiteX0" fmla="*/ 0 w 8596428"/>
              <a:gd name="connsiteY0" fmla="*/ 0 h 6535834"/>
              <a:gd name="connsiteX1" fmla="*/ 8596428 w 8596428"/>
              <a:gd name="connsiteY1" fmla="*/ 0 h 6535834"/>
              <a:gd name="connsiteX2" fmla="*/ 8596428 w 8596428"/>
              <a:gd name="connsiteY2" fmla="*/ 6535834 h 6535834"/>
              <a:gd name="connsiteX3" fmla="*/ 0 w 8596428"/>
              <a:gd name="connsiteY3" fmla="*/ 6535834 h 653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96428" h="6535834">
                <a:moveTo>
                  <a:pt x="0" y="0"/>
                </a:moveTo>
                <a:lnTo>
                  <a:pt x="8596428" y="0"/>
                </a:lnTo>
                <a:lnTo>
                  <a:pt x="8596428" y="6535834"/>
                </a:lnTo>
                <a:lnTo>
                  <a:pt x="0" y="6535834"/>
                </a:lnTo>
                <a:close/>
              </a:path>
            </a:pathLst>
          </a:custGeom>
        </p:spPr>
      </p:pic>
      <p:pic>
        <p:nvPicPr>
          <p:cNvPr id="97" name="图片 96"/>
          <p:cNvPicPr>
            <a:picLocks noChangeAspect="1"/>
          </p:cNvPicPr>
          <p:nvPr/>
        </p:nvPicPr>
        <p:blipFill rotWithShape="1">
          <a:blip r:embed="rId2"/>
          <a:srcRect l="30135" t="41982" b="12967"/>
          <a:stretch>
            <a:fillRect/>
          </a:stretch>
        </p:blipFill>
        <p:spPr>
          <a:xfrm>
            <a:off x="0" y="0"/>
            <a:ext cx="10639842" cy="6858000"/>
          </a:xfrm>
          <a:custGeom>
            <a:avLst/>
            <a:gdLst>
              <a:gd name="connsiteX0" fmla="*/ 0 w 10639842"/>
              <a:gd name="connsiteY0" fmla="*/ 0 h 6858000"/>
              <a:gd name="connsiteX1" fmla="*/ 10639842 w 10639842"/>
              <a:gd name="connsiteY1" fmla="*/ 0 h 6858000"/>
              <a:gd name="connsiteX2" fmla="*/ 10639842 w 10639842"/>
              <a:gd name="connsiteY2" fmla="*/ 6858000 h 6858000"/>
              <a:gd name="connsiteX3" fmla="*/ 0 w 106398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39842" h="6858000">
                <a:moveTo>
                  <a:pt x="0" y="0"/>
                </a:moveTo>
                <a:lnTo>
                  <a:pt x="10639842" y="0"/>
                </a:lnTo>
                <a:lnTo>
                  <a:pt x="1063984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13" name="图片 112"/>
          <p:cNvPicPr>
            <a:picLocks noChangeAspect="1"/>
          </p:cNvPicPr>
          <p:nvPr/>
        </p:nvPicPr>
        <p:blipFill>
          <a:blip r:embed="rId3"/>
          <a:srcRect l="27603" t="64262"/>
          <a:stretch>
            <a:fillRect/>
          </a:stretch>
        </p:blipFill>
        <p:spPr>
          <a:xfrm>
            <a:off x="1" y="0"/>
            <a:ext cx="8550511" cy="4060993"/>
          </a:xfrm>
          <a:custGeom>
            <a:avLst/>
            <a:gdLst>
              <a:gd name="connsiteX0" fmla="*/ 0 w 8550511"/>
              <a:gd name="connsiteY0" fmla="*/ 0 h 4060993"/>
              <a:gd name="connsiteX1" fmla="*/ 8550511 w 8550511"/>
              <a:gd name="connsiteY1" fmla="*/ 0 h 4060993"/>
              <a:gd name="connsiteX2" fmla="*/ 8550511 w 8550511"/>
              <a:gd name="connsiteY2" fmla="*/ 4060993 h 4060993"/>
              <a:gd name="connsiteX3" fmla="*/ 0 w 8550511"/>
              <a:gd name="connsiteY3" fmla="*/ 4060993 h 4060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50511" h="4060993">
                <a:moveTo>
                  <a:pt x="0" y="0"/>
                </a:moveTo>
                <a:lnTo>
                  <a:pt x="8550511" y="0"/>
                </a:lnTo>
                <a:lnTo>
                  <a:pt x="8550511" y="4060993"/>
                </a:lnTo>
                <a:lnTo>
                  <a:pt x="0" y="4060993"/>
                </a:lnTo>
                <a:close/>
              </a:path>
            </a:pathLst>
          </a:custGeom>
        </p:spPr>
      </p:pic>
      <p:pic>
        <p:nvPicPr>
          <p:cNvPr id="119" name="图片 118"/>
          <p:cNvPicPr>
            <a:picLocks noChangeAspect="1"/>
          </p:cNvPicPr>
          <p:nvPr/>
        </p:nvPicPr>
        <p:blipFill rotWithShape="1">
          <a:blip r:embed="rId4"/>
          <a:srcRect l="-13545" t="1" r="34945" b="41439"/>
          <a:stretch>
            <a:fillRect/>
          </a:stretch>
        </p:blipFill>
        <p:spPr>
          <a:xfrm rot="605302">
            <a:off x="5994360" y="2794755"/>
            <a:ext cx="6459513" cy="4612577"/>
          </a:xfrm>
          <a:custGeom>
            <a:avLst/>
            <a:gdLst>
              <a:gd name="connsiteX0" fmla="*/ 0 w 6459513"/>
              <a:gd name="connsiteY0" fmla="*/ 0 h 4612577"/>
              <a:gd name="connsiteX1" fmla="*/ 5833918 w 6459513"/>
              <a:gd name="connsiteY1" fmla="*/ 0 h 4612577"/>
              <a:gd name="connsiteX2" fmla="*/ 6459513 w 6459513"/>
              <a:gd name="connsiteY2" fmla="*/ 3516206 h 4612577"/>
              <a:gd name="connsiteX3" fmla="*/ 297276 w 6459513"/>
              <a:gd name="connsiteY3" fmla="*/ 4612577 h 461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59513" h="4612577">
                <a:moveTo>
                  <a:pt x="0" y="0"/>
                </a:moveTo>
                <a:lnTo>
                  <a:pt x="5833918" y="0"/>
                </a:lnTo>
                <a:lnTo>
                  <a:pt x="6459513" y="3516206"/>
                </a:lnTo>
                <a:lnTo>
                  <a:pt x="297276" y="4612577"/>
                </a:lnTo>
                <a:close/>
              </a:path>
            </a:pathLst>
          </a:custGeom>
        </p:spPr>
      </p:pic>
      <p:sp>
        <p:nvSpPr>
          <p:cNvPr id="17" name="任意多边形: 形状 16"/>
          <p:cNvSpPr/>
          <p:nvPr/>
        </p:nvSpPr>
        <p:spPr>
          <a:xfrm>
            <a:off x="1" y="0"/>
            <a:ext cx="1837206" cy="6858000"/>
          </a:xfrm>
          <a:custGeom>
            <a:avLst/>
            <a:gdLst>
              <a:gd name="connsiteX0" fmla="*/ 0 w 2347833"/>
              <a:gd name="connsiteY0" fmla="*/ 0 h 6858000"/>
              <a:gd name="connsiteX1" fmla="*/ 2347833 w 2347833"/>
              <a:gd name="connsiteY1" fmla="*/ 0 h 6858000"/>
              <a:gd name="connsiteX2" fmla="*/ 2347833 w 2347833"/>
              <a:gd name="connsiteY2" fmla="*/ 6858000 h 6858000"/>
              <a:gd name="connsiteX3" fmla="*/ 0 w 234783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7833" h="6858000">
                <a:moveTo>
                  <a:pt x="0" y="0"/>
                </a:moveTo>
                <a:lnTo>
                  <a:pt x="2347833" y="0"/>
                </a:lnTo>
                <a:lnTo>
                  <a:pt x="23478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8000">
                <a:srgbClr val="020457"/>
              </a:gs>
              <a:gs pos="100000">
                <a:srgbClr val="06023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51008" y="396375"/>
            <a:ext cx="137136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11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pt-BR" altLang="en-US" sz="1400" dirty="0">
                <a:solidFill>
                  <a:schemeClr val="bg1"/>
                </a:solidFill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Centro Paula Souza</a:t>
            </a:r>
            <a:endParaRPr lang="pt-BR" altLang="en-US" sz="1400" dirty="0">
              <a:solidFill>
                <a:schemeClr val="bg1"/>
              </a:solidFill>
              <a:latin typeface="Arial Black" panose="020B0A04020102020204" charset="0"/>
              <a:ea typeface="Arial" panose="020B0604020202020204" pitchFamily="34" charset="0"/>
              <a:cs typeface="Arial Black" panose="020B0A040201020202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380999" y="396375"/>
            <a:ext cx="1168724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11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pt-BR" altLang="en-US" sz="1400" dirty="0">
                <a:solidFill>
                  <a:schemeClr val="bg1"/>
                </a:solidFill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Fatec Sorocaba</a:t>
            </a:r>
            <a:endParaRPr lang="pt-BR" altLang="en-US" sz="1400" dirty="0">
              <a:solidFill>
                <a:schemeClr val="bg1"/>
              </a:solidFill>
              <a:latin typeface="Arial Black" panose="020B0A04020102020204" charset="0"/>
              <a:ea typeface="Arial" panose="020B0604020202020204" pitchFamily="34" charset="0"/>
              <a:cs typeface="Arial Black" panose="020B0A0402010202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298479" y="4796643"/>
            <a:ext cx="2893925" cy="20612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2000" b="0" i="0" u="none" strike="noStrike">
                <a:solidFill>
                  <a:srgbClr val="000000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pt-BR" altLang="en-US" sz="1600" dirty="0">
                <a:solidFill>
                  <a:schemeClr val="bg1"/>
                </a:solidFill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Matheus Henrique Roque Camargo</a:t>
            </a:r>
            <a:br>
              <a:rPr lang="pt-BR" altLang="en-US" sz="1600" dirty="0">
                <a:solidFill>
                  <a:schemeClr val="bg1"/>
                </a:solidFill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</a:br>
            <a:r>
              <a:rPr lang="pt-BR" altLang="en-US" sz="1600" dirty="0">
                <a:solidFill>
                  <a:schemeClr val="bg1"/>
                </a:solidFill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Caroline Espanha Simão</a:t>
            </a:r>
            <a:endParaRPr lang="pt-BR" altLang="en-US" sz="1600" dirty="0">
              <a:solidFill>
                <a:schemeClr val="bg1"/>
              </a:solidFill>
              <a:latin typeface="Arial Black" panose="020B0A04020102020204" charset="0"/>
              <a:ea typeface="Arial" panose="020B0604020202020204" pitchFamily="34" charset="0"/>
              <a:cs typeface="Arial Black" panose="020B0A04020102020204" charset="0"/>
            </a:endParaRPr>
          </a:p>
          <a:p>
            <a:r>
              <a:rPr lang="pt-BR" altLang="en-US" sz="1600" dirty="0">
                <a:solidFill>
                  <a:schemeClr val="bg1"/>
                </a:solidFill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Murilo Garbo Costa</a:t>
            </a:r>
            <a:br>
              <a:rPr lang="pt-BR" altLang="en-US" sz="1600" dirty="0">
                <a:solidFill>
                  <a:schemeClr val="bg1"/>
                </a:solidFill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</a:br>
            <a:r>
              <a:rPr lang="pt-BR" altLang="en-US" sz="1600" dirty="0">
                <a:solidFill>
                  <a:schemeClr val="bg1"/>
                </a:solidFill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Gabriel dos Santos Oliveira</a:t>
            </a:r>
            <a:endParaRPr lang="pt-BR" altLang="en-US" sz="1600" dirty="0">
              <a:solidFill>
                <a:schemeClr val="bg1"/>
              </a:solidFill>
              <a:latin typeface="Arial Black" panose="020B0A04020102020204" charset="0"/>
              <a:ea typeface="Arial" panose="020B0604020202020204" pitchFamily="34" charset="0"/>
              <a:cs typeface="Arial Black" panose="020B0A04020102020204" charset="0"/>
            </a:endParaRPr>
          </a:p>
          <a:p>
            <a:r>
              <a:rPr lang="pt-BR" altLang="en-US" sz="1600" dirty="0">
                <a:solidFill>
                  <a:schemeClr val="bg1"/>
                </a:solidFill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Vinicius Holtz de Oliveira</a:t>
            </a:r>
            <a:endParaRPr lang="pt-BR" altLang="en-US" sz="1600" dirty="0">
              <a:solidFill>
                <a:schemeClr val="bg1"/>
              </a:solidFill>
              <a:latin typeface="Arial Black" panose="020B0A04020102020204" charset="0"/>
              <a:ea typeface="Arial" panose="020B0604020202020204" pitchFamily="34" charset="0"/>
              <a:cs typeface="Arial Black" panose="020B0A040201020202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55331" y="2721381"/>
            <a:ext cx="4714077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pt-BR" altLang="en-US" sz="1800" b="0" i="0" u="none" strike="noStrike" dirty="0">
                <a:solidFill>
                  <a:schemeClr val="bg1"/>
                </a:solidFill>
                <a:effectLst/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Um gerenciador de animais para a cavalaria policial</a:t>
            </a:r>
            <a:endParaRPr lang="pt-BR" altLang="en-US" sz="1800" b="0" i="0" u="none" strike="noStrike" dirty="0">
              <a:solidFill>
                <a:schemeClr val="bg1"/>
              </a:solidFill>
              <a:effectLst/>
              <a:latin typeface="Arial Black" panose="020B0A04020102020204" charset="0"/>
              <a:ea typeface="Arial" panose="020B0604020202020204" pitchFamily="34" charset="0"/>
              <a:cs typeface="Arial Black" panose="020B0A040201020202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55331" y="1891672"/>
            <a:ext cx="5739547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pt-BR" altLang="en-US" sz="4800" b="0" i="0" u="none" strike="noStrike" dirty="0">
                <a:solidFill>
                  <a:schemeClr val="bg1"/>
                </a:solidFill>
                <a:effectLst/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Horse Manager</a:t>
            </a:r>
            <a:endParaRPr lang="pt-BR" altLang="en-US" sz="4800" b="0" i="0" u="none" strike="noStrike" dirty="0">
              <a:solidFill>
                <a:schemeClr val="bg1"/>
              </a:solidFill>
              <a:effectLst/>
              <a:latin typeface="Arial Black" panose="020B0A04020102020204" charset="0"/>
              <a:ea typeface="Arial" panose="020B0604020202020204" pitchFamily="3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rgbClr val="190985"/>
            </a:gs>
            <a:gs pos="100000">
              <a:srgbClr val="1B59A7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: 形状 15"/>
          <p:cNvSpPr/>
          <p:nvPr/>
        </p:nvSpPr>
        <p:spPr>
          <a:xfrm>
            <a:off x="0" y="2153890"/>
            <a:ext cx="12192000" cy="4704110"/>
          </a:xfrm>
          <a:custGeom>
            <a:avLst/>
            <a:gdLst>
              <a:gd name="connsiteX0" fmla="*/ 0 w 12192000"/>
              <a:gd name="connsiteY0" fmla="*/ 0 h 4704110"/>
              <a:gd name="connsiteX1" fmla="*/ 12192000 w 12192000"/>
              <a:gd name="connsiteY1" fmla="*/ 0 h 4704110"/>
              <a:gd name="connsiteX2" fmla="*/ 12192000 w 12192000"/>
              <a:gd name="connsiteY2" fmla="*/ 4704110 h 4704110"/>
              <a:gd name="connsiteX3" fmla="*/ 0 w 12192000"/>
              <a:gd name="connsiteY3" fmla="*/ 4704110 h 470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704110">
                <a:moveTo>
                  <a:pt x="0" y="0"/>
                </a:moveTo>
                <a:lnTo>
                  <a:pt x="12192000" y="0"/>
                </a:lnTo>
                <a:lnTo>
                  <a:pt x="12192000" y="4704110"/>
                </a:lnTo>
                <a:lnTo>
                  <a:pt x="0" y="4704110"/>
                </a:lnTo>
                <a:close/>
              </a:path>
            </a:pathLst>
          </a:custGeom>
          <a:gradFill>
            <a:gsLst>
              <a:gs pos="38000">
                <a:srgbClr val="020457"/>
              </a:gs>
              <a:gs pos="100000">
                <a:srgbClr val="06023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>
            <a:alphaModFix amt="59000"/>
          </a:blip>
          <a:srcRect l="45982" b="55199"/>
          <a:stretch>
            <a:fillRect/>
          </a:stretch>
        </p:blipFill>
        <p:spPr>
          <a:xfrm>
            <a:off x="0" y="4544564"/>
            <a:ext cx="4531465" cy="2313436"/>
          </a:xfrm>
          <a:custGeom>
            <a:avLst/>
            <a:gdLst>
              <a:gd name="connsiteX0" fmla="*/ 0 w 4531465"/>
              <a:gd name="connsiteY0" fmla="*/ 0 h 2313436"/>
              <a:gd name="connsiteX1" fmla="*/ 4531465 w 4531465"/>
              <a:gd name="connsiteY1" fmla="*/ 0 h 2313436"/>
              <a:gd name="connsiteX2" fmla="*/ 4531465 w 4531465"/>
              <a:gd name="connsiteY2" fmla="*/ 2313436 h 2313436"/>
              <a:gd name="connsiteX3" fmla="*/ 0 w 4531465"/>
              <a:gd name="connsiteY3" fmla="*/ 2313436 h 2313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31465" h="2313436">
                <a:moveTo>
                  <a:pt x="0" y="0"/>
                </a:moveTo>
                <a:lnTo>
                  <a:pt x="4531465" y="0"/>
                </a:lnTo>
                <a:lnTo>
                  <a:pt x="4531465" y="2313436"/>
                </a:lnTo>
                <a:lnTo>
                  <a:pt x="0" y="2313436"/>
                </a:lnTo>
                <a:close/>
              </a:path>
            </a:pathLst>
          </a:custGeom>
        </p:spPr>
      </p:pic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/>
          <a:srcRect t="1" r="19702" b="36981"/>
          <a:stretch>
            <a:fillRect/>
          </a:stretch>
        </p:blipFill>
        <p:spPr>
          <a:xfrm rot="1081131">
            <a:off x="3456862" y="1238756"/>
            <a:ext cx="9149475" cy="7180589"/>
          </a:xfrm>
          <a:custGeom>
            <a:avLst/>
            <a:gdLst>
              <a:gd name="connsiteX0" fmla="*/ 0 w 9149475"/>
              <a:gd name="connsiteY0" fmla="*/ 0 h 7180589"/>
              <a:gd name="connsiteX1" fmla="*/ 7781847 w 9149475"/>
              <a:gd name="connsiteY1" fmla="*/ 0 h 7180589"/>
              <a:gd name="connsiteX2" fmla="*/ 9149475 w 9149475"/>
              <a:gd name="connsiteY2" fmla="*/ 4204417 h 7180589"/>
              <a:gd name="connsiteX3" fmla="*/ 0 w 9149475"/>
              <a:gd name="connsiteY3" fmla="*/ 7180589 h 7180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49475" h="7180589">
                <a:moveTo>
                  <a:pt x="0" y="0"/>
                </a:moveTo>
                <a:lnTo>
                  <a:pt x="7781847" y="0"/>
                </a:lnTo>
                <a:lnTo>
                  <a:pt x="9149475" y="4204417"/>
                </a:lnTo>
                <a:lnTo>
                  <a:pt x="0" y="7180589"/>
                </a:lnTo>
                <a:close/>
              </a:path>
            </a:pathLst>
          </a:custGeom>
        </p:spPr>
      </p:pic>
      <p:sp>
        <p:nvSpPr>
          <p:cNvPr id="12" name="文本框 11"/>
          <p:cNvSpPr txBox="1"/>
          <p:nvPr/>
        </p:nvSpPr>
        <p:spPr>
          <a:xfrm>
            <a:off x="859790" y="534670"/>
            <a:ext cx="646430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fontAlgn="ctr">
              <a:defRPr sz="4800" b="0" i="0" u="none" strike="noStrike">
                <a:solidFill>
                  <a:schemeClr val="bg1"/>
                </a:solidFill>
                <a:effectLst/>
                <a:latin typeface="+mj-lt"/>
                <a:ea typeface="Microsoft YaHei" panose="020B0503020204020204" pitchFamily="34" charset="-122"/>
              </a:defRPr>
            </a:lvl1pPr>
          </a:lstStyle>
          <a:p>
            <a:r>
              <a:rPr lang="pt-BR" altLang="en-US" dirty="0">
                <a:ea typeface="Arial" panose="020B0604020202020204" pitchFamily="34" charset="0"/>
              </a:rPr>
              <a:t>Conceito do Projeto</a:t>
            </a:r>
            <a:endParaRPr lang="pt-BR" altLang="en-US" dirty="0">
              <a:ea typeface="Arial" panose="020B0604020202020204" pitchFamily="34" charset="0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5752586" y="1823359"/>
            <a:ext cx="686827" cy="686827"/>
            <a:chOff x="1984442" y="5680952"/>
            <a:chExt cx="476655" cy="476655"/>
          </a:xfrm>
        </p:grpSpPr>
        <p:sp>
          <p:nvSpPr>
            <p:cNvPr id="65" name="椭圆 64"/>
            <p:cNvSpPr/>
            <p:nvPr/>
          </p:nvSpPr>
          <p:spPr>
            <a:xfrm>
              <a:off x="1984442" y="5680952"/>
              <a:ext cx="476655" cy="476655"/>
            </a:xfrm>
            <a:prstGeom prst="ellipse">
              <a:avLst/>
            </a:prstGeom>
            <a:solidFill>
              <a:srgbClr val="AF2E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半闭框 65"/>
            <p:cNvSpPr/>
            <p:nvPr/>
          </p:nvSpPr>
          <p:spPr>
            <a:xfrm rot="13500593">
              <a:off x="2150860" y="5797397"/>
              <a:ext cx="163177" cy="163177"/>
            </a:xfrm>
            <a:prstGeom prst="halfFrame">
              <a:avLst>
                <a:gd name="adj1" fmla="val 20149"/>
                <a:gd name="adj2" fmla="val 1895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Caixa de Texto 1"/>
          <p:cNvSpPr txBox="1"/>
          <p:nvPr/>
        </p:nvSpPr>
        <p:spPr>
          <a:xfrm>
            <a:off x="194945" y="2510155"/>
            <a:ext cx="8818245" cy="3717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pt-BR"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Um sistema web que centraliza e organiza todas as informa</a:t>
            </a:r>
            <a:r>
              <a:rPr lang="en-US" altLang="en-US"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çõ</a:t>
            </a:r>
            <a:r>
              <a:rPr lang="en-US" altLang="pt-BR"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es da cavalaria da pol</a:t>
            </a:r>
            <a:r>
              <a:rPr lang="en-US" altLang="en-US"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í</a:t>
            </a:r>
            <a:r>
              <a:rPr lang="en-US" altLang="pt-BR"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cia, permitindo gest</a:t>
            </a:r>
            <a:r>
              <a:rPr lang="en-US" altLang="en-US"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 eficiente de hist</a:t>
            </a:r>
            <a:r>
              <a:rPr lang="en-US" altLang="en-US"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ó</a:t>
            </a:r>
            <a:r>
              <a:rPr lang="en-US" altLang="pt-BR"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rico m</a:t>
            </a:r>
            <a:r>
              <a:rPr lang="en-US" altLang="en-US"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é</a:t>
            </a:r>
            <a:r>
              <a:rPr lang="en-US" altLang="pt-BR"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dico, treinamentos, rondas, alimenta</a:t>
            </a:r>
            <a:r>
              <a:rPr lang="en-US" altLang="en-US"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ç</a:t>
            </a:r>
            <a:r>
              <a:rPr lang="en-US" altLang="en-US"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32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 e registros administrativos, substituindo todos os processos em papel.</a:t>
            </a:r>
            <a:endParaRPr lang="en-US" altLang="pt-BR" sz="32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rgbClr val="190985"/>
            </a:gs>
            <a:gs pos="100000">
              <a:srgbClr val="1B59A7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rcRect r="24556" b="42640"/>
          <a:stretch>
            <a:fillRect/>
          </a:stretch>
        </p:blipFill>
        <p:spPr>
          <a:xfrm>
            <a:off x="7536125" y="3318155"/>
            <a:ext cx="4655875" cy="3539845"/>
          </a:xfrm>
          <a:custGeom>
            <a:avLst/>
            <a:gdLst>
              <a:gd name="connsiteX0" fmla="*/ 0 w 8596428"/>
              <a:gd name="connsiteY0" fmla="*/ 0 h 6535834"/>
              <a:gd name="connsiteX1" fmla="*/ 8596428 w 8596428"/>
              <a:gd name="connsiteY1" fmla="*/ 0 h 6535834"/>
              <a:gd name="connsiteX2" fmla="*/ 8596428 w 8596428"/>
              <a:gd name="connsiteY2" fmla="*/ 6535834 h 6535834"/>
              <a:gd name="connsiteX3" fmla="*/ 0 w 8596428"/>
              <a:gd name="connsiteY3" fmla="*/ 6535834 h 653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96428" h="6535834">
                <a:moveTo>
                  <a:pt x="0" y="0"/>
                </a:moveTo>
                <a:lnTo>
                  <a:pt x="8596428" y="0"/>
                </a:lnTo>
                <a:lnTo>
                  <a:pt x="8596428" y="6535834"/>
                </a:lnTo>
                <a:lnTo>
                  <a:pt x="0" y="6535834"/>
                </a:lnTo>
                <a:close/>
              </a:path>
            </a:pathLst>
          </a:custGeom>
        </p:spPr>
      </p:pic>
      <p:sp>
        <p:nvSpPr>
          <p:cNvPr id="27" name="任意多边形: 形状 26"/>
          <p:cNvSpPr/>
          <p:nvPr/>
        </p:nvSpPr>
        <p:spPr>
          <a:xfrm>
            <a:off x="0" y="5787958"/>
            <a:ext cx="12192000" cy="1070042"/>
          </a:xfrm>
          <a:custGeom>
            <a:avLst/>
            <a:gdLst>
              <a:gd name="connsiteX0" fmla="*/ 0 w 12192000"/>
              <a:gd name="connsiteY0" fmla="*/ 0 h 4704110"/>
              <a:gd name="connsiteX1" fmla="*/ 12192000 w 12192000"/>
              <a:gd name="connsiteY1" fmla="*/ 0 h 4704110"/>
              <a:gd name="connsiteX2" fmla="*/ 12192000 w 12192000"/>
              <a:gd name="connsiteY2" fmla="*/ 4704110 h 4704110"/>
              <a:gd name="connsiteX3" fmla="*/ 0 w 12192000"/>
              <a:gd name="connsiteY3" fmla="*/ 4704110 h 470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704110">
                <a:moveTo>
                  <a:pt x="0" y="0"/>
                </a:moveTo>
                <a:lnTo>
                  <a:pt x="12192000" y="0"/>
                </a:lnTo>
                <a:lnTo>
                  <a:pt x="12192000" y="4704110"/>
                </a:lnTo>
                <a:lnTo>
                  <a:pt x="0" y="4704110"/>
                </a:lnTo>
                <a:close/>
              </a:path>
            </a:pathLst>
          </a:custGeom>
          <a:gradFill>
            <a:gsLst>
              <a:gs pos="38000">
                <a:srgbClr val="020457"/>
              </a:gs>
              <a:gs pos="100000">
                <a:srgbClr val="06023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13435" y="2287905"/>
            <a:ext cx="1008570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en-US" altLang="pt-BR" sz="2000" b="0" i="0" u="none" strike="noStrike" dirty="0">
                <a:solidFill>
                  <a:schemeClr val="bg1"/>
                </a:solidFill>
                <a:effectLst/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A falta de um sistema </a:t>
            </a:r>
            <a:r>
              <a:rPr lang="en-US" altLang="en-US" sz="2000" b="0" i="0" u="none" strike="noStrike" dirty="0">
                <a:solidFill>
                  <a:schemeClr val="bg1"/>
                </a:solidFill>
                <a:effectLst/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ú</a:t>
            </a:r>
            <a:r>
              <a:rPr lang="en-US" altLang="pt-BR" sz="2000" b="0" i="0" u="none" strike="noStrike" dirty="0">
                <a:solidFill>
                  <a:schemeClr val="bg1"/>
                </a:solidFill>
                <a:effectLst/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nico dificulta a comunica</a:t>
            </a:r>
            <a:r>
              <a:rPr lang="en-US" altLang="en-US" sz="2000" b="0" i="0" u="none" strike="noStrike" dirty="0">
                <a:solidFill>
                  <a:schemeClr val="bg1"/>
                </a:solidFill>
                <a:effectLst/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ç</a:t>
            </a:r>
            <a:r>
              <a:rPr lang="en-US" altLang="en-US" sz="2000" b="0" i="0" u="none" strike="noStrike" dirty="0">
                <a:solidFill>
                  <a:schemeClr val="bg1"/>
                </a:solidFill>
                <a:effectLst/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ã</a:t>
            </a:r>
            <a:r>
              <a:rPr lang="en-US" altLang="pt-BR" sz="2000" b="0" i="0" u="none" strike="noStrike" dirty="0">
                <a:solidFill>
                  <a:schemeClr val="bg1"/>
                </a:solidFill>
                <a:effectLst/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o entre todas as partes envolvidas, resultando em atrasos nas tomadas de decis</a:t>
            </a:r>
            <a:r>
              <a:rPr lang="en-US" altLang="en-US" sz="2000" b="0" i="0" u="none" strike="noStrike" dirty="0">
                <a:solidFill>
                  <a:schemeClr val="bg1"/>
                </a:solidFill>
                <a:effectLst/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ã</a:t>
            </a:r>
            <a:r>
              <a:rPr lang="en-US" altLang="pt-BR" sz="2000" b="0" i="0" u="none" strike="noStrike" dirty="0">
                <a:solidFill>
                  <a:schemeClr val="bg1"/>
                </a:solidFill>
                <a:effectLst/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o.</a:t>
            </a:r>
            <a:endParaRPr lang="en-US" altLang="pt-BR" sz="2000" b="0" i="0" u="none" strike="noStrike" dirty="0">
              <a:solidFill>
                <a:schemeClr val="bg1"/>
              </a:solidFill>
              <a:effectLst/>
              <a:latin typeface="Arial Black" panose="020B0A04020102020204" charset="0"/>
              <a:ea typeface="Arial" panose="020B0604020202020204" pitchFamily="34" charset="0"/>
              <a:cs typeface="Arial Black" panose="020B0A040201020202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13435" y="1080770"/>
            <a:ext cx="10085705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pt-BR" sz="2000" dirty="0">
                <a:solidFill>
                  <a:schemeClr val="bg1"/>
                </a:solidFill>
                <a:latin typeface="Arial Black" panose="020B0A04020102020204" charset="0"/>
                <a:ea typeface="Gilroy" panose="00000400000000000000" charset="0"/>
                <a:cs typeface="Arial Black" panose="020B0A04020102020204" charset="0"/>
              </a:rPr>
              <a:t>Atualmente, o controle da cavalaria </a:t>
            </a:r>
            <a:r>
              <a:rPr lang="en-US" altLang="en-US" sz="2000" dirty="0">
                <a:solidFill>
                  <a:schemeClr val="bg1"/>
                </a:solidFill>
                <a:latin typeface="Arial Black" panose="020B0A04020102020204" charset="0"/>
                <a:ea typeface="Gilroy" panose="00000400000000000000" charset="0"/>
                <a:cs typeface="Arial Black" panose="020B0A04020102020204" charset="0"/>
              </a:rPr>
              <a:t>é</a:t>
            </a:r>
            <a:r>
              <a:rPr lang="en-US" altLang="pt-BR" sz="2000" dirty="0">
                <a:solidFill>
                  <a:schemeClr val="bg1"/>
                </a:solidFill>
                <a:latin typeface="Arial Black" panose="020B0A04020102020204" charset="0"/>
                <a:ea typeface="Gilroy" panose="00000400000000000000" charset="0"/>
                <a:cs typeface="Arial Black" panose="020B0A04020102020204" charset="0"/>
              </a:rPr>
              <a:t> feito em papel e de forma descentralizada, o que gera perda de informa</a:t>
            </a:r>
            <a:r>
              <a:rPr lang="en-US" altLang="en-US" sz="2000" dirty="0">
                <a:solidFill>
                  <a:schemeClr val="bg1"/>
                </a:solidFill>
                <a:latin typeface="Arial Black" panose="020B0A04020102020204" charset="0"/>
                <a:ea typeface="Gilroy" panose="00000400000000000000" charset="0"/>
                <a:cs typeface="Arial Black" panose="020B0A04020102020204" charset="0"/>
              </a:rPr>
              <a:t>çõ</a:t>
            </a:r>
            <a:r>
              <a:rPr lang="en-US" altLang="pt-BR" sz="2000" dirty="0">
                <a:solidFill>
                  <a:schemeClr val="bg1"/>
                </a:solidFill>
                <a:latin typeface="Arial Black" panose="020B0A04020102020204" charset="0"/>
                <a:ea typeface="Gilroy" panose="00000400000000000000" charset="0"/>
                <a:cs typeface="Arial Black" panose="020B0A04020102020204" charset="0"/>
              </a:rPr>
              <a:t>es, dificuldades de consulta e possui diversas oportunidades para erros.</a:t>
            </a:r>
            <a:endParaRPr lang="en-US" altLang="pt-BR" sz="2000" dirty="0">
              <a:solidFill>
                <a:schemeClr val="bg1"/>
              </a:solidFill>
              <a:latin typeface="Arial Black" panose="020B0A04020102020204" charset="0"/>
              <a:ea typeface="Gilroy" panose="00000400000000000000" charset="0"/>
              <a:cs typeface="Arial Black" panose="020B0A0402010202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13435" y="3173095"/>
            <a:ext cx="1008634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pt-BR" sz="2000" dirty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N</a:t>
            </a:r>
            <a:r>
              <a:rPr lang="en-US" altLang="en-US" sz="2000" dirty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 dirty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 existe rastreabilidade clara sobre sa</a:t>
            </a:r>
            <a:r>
              <a:rPr lang="en-US" altLang="en-US" sz="2000" dirty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ú</a:t>
            </a:r>
            <a:r>
              <a:rPr lang="en-US" altLang="pt-BR" sz="2000" dirty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de e rondas de cada animal, prejudicando o acompanhamento individualizado.</a:t>
            </a:r>
            <a:endParaRPr lang="en-US" altLang="pt-BR" sz="2000" dirty="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85420" y="181610"/>
            <a:ext cx="577405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pt-BR" altLang="en-US" sz="4000" b="0" i="0" u="none" strike="noStrike" dirty="0">
                <a:solidFill>
                  <a:schemeClr val="bg1"/>
                </a:solidFill>
                <a:effectLst/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Principais Dores</a:t>
            </a:r>
            <a:endParaRPr lang="pt-BR" altLang="en-US" sz="4000" b="0" i="0" u="none" strike="noStrike" dirty="0">
              <a:solidFill>
                <a:schemeClr val="bg1"/>
              </a:solidFill>
              <a:effectLst/>
              <a:latin typeface="Arial Black" panose="020B0A04020102020204" charset="0"/>
              <a:ea typeface="Arial" panose="020B0604020202020204" pitchFamily="34" charset="0"/>
              <a:cs typeface="Arial Black" panose="020B0A0402010202020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814070" y="4037965"/>
            <a:ext cx="1008570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050"/>
            </a:lvl1pPr>
          </a:lstStyle>
          <a:p>
            <a:r>
              <a:rPr lang="en-US" altLang="pt-BR" sz="2000" dirty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Existe um relat</a:t>
            </a:r>
            <a:r>
              <a:rPr lang="en-US" altLang="en-US" sz="2000" dirty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ó</a:t>
            </a:r>
            <a:r>
              <a:rPr lang="en-US" altLang="pt-BR" sz="2000" dirty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rio mensal que deve ser elaborado todo fim de m</a:t>
            </a:r>
            <a:r>
              <a:rPr lang="en-US" altLang="en-US" sz="2000" dirty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ê</a:t>
            </a:r>
            <a:r>
              <a:rPr lang="en-US" altLang="pt-BR" sz="2000" dirty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s pela cavalaria para a sede Estadual, tanto individual como total.</a:t>
            </a:r>
            <a:endParaRPr lang="en-US" altLang="pt-BR" sz="2000" dirty="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9" name="Elipse 8"/>
          <p:cNvSpPr/>
          <p:nvPr/>
        </p:nvSpPr>
        <p:spPr>
          <a:xfrm>
            <a:off x="566420" y="1200150"/>
            <a:ext cx="247650" cy="2482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10" name="Elipse 9"/>
          <p:cNvSpPr/>
          <p:nvPr/>
        </p:nvSpPr>
        <p:spPr>
          <a:xfrm>
            <a:off x="566420" y="2338705"/>
            <a:ext cx="247650" cy="2482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11" name="Elipse 10"/>
          <p:cNvSpPr/>
          <p:nvPr/>
        </p:nvSpPr>
        <p:spPr>
          <a:xfrm>
            <a:off x="565785" y="3214370"/>
            <a:ext cx="247650" cy="2482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  <p:sp>
        <p:nvSpPr>
          <p:cNvPr id="13" name="Elipse 12"/>
          <p:cNvSpPr/>
          <p:nvPr/>
        </p:nvSpPr>
        <p:spPr>
          <a:xfrm>
            <a:off x="565785" y="4115435"/>
            <a:ext cx="247650" cy="24828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B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rgbClr val="190985"/>
            </a:gs>
            <a:gs pos="100000">
              <a:srgbClr val="1B59A7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rcRect r="24556" b="42640"/>
          <a:stretch>
            <a:fillRect/>
          </a:stretch>
        </p:blipFill>
        <p:spPr>
          <a:xfrm>
            <a:off x="7536125" y="3318155"/>
            <a:ext cx="4655875" cy="3539845"/>
          </a:xfrm>
          <a:custGeom>
            <a:avLst/>
            <a:gdLst>
              <a:gd name="connsiteX0" fmla="*/ 0 w 8596428"/>
              <a:gd name="connsiteY0" fmla="*/ 0 h 6535834"/>
              <a:gd name="connsiteX1" fmla="*/ 8596428 w 8596428"/>
              <a:gd name="connsiteY1" fmla="*/ 0 h 6535834"/>
              <a:gd name="connsiteX2" fmla="*/ 8596428 w 8596428"/>
              <a:gd name="connsiteY2" fmla="*/ 6535834 h 6535834"/>
              <a:gd name="connsiteX3" fmla="*/ 0 w 8596428"/>
              <a:gd name="connsiteY3" fmla="*/ 6535834 h 653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96428" h="6535834">
                <a:moveTo>
                  <a:pt x="0" y="0"/>
                </a:moveTo>
                <a:lnTo>
                  <a:pt x="8596428" y="0"/>
                </a:lnTo>
                <a:lnTo>
                  <a:pt x="8596428" y="6535834"/>
                </a:lnTo>
                <a:lnTo>
                  <a:pt x="0" y="6535834"/>
                </a:lnTo>
                <a:close/>
              </a:path>
            </a:pathLst>
          </a:custGeom>
        </p:spPr>
      </p:pic>
      <p:sp>
        <p:nvSpPr>
          <p:cNvPr id="27" name="任意多边形: 形状 26"/>
          <p:cNvSpPr/>
          <p:nvPr/>
        </p:nvSpPr>
        <p:spPr>
          <a:xfrm>
            <a:off x="0" y="5787958"/>
            <a:ext cx="12192000" cy="1070042"/>
          </a:xfrm>
          <a:custGeom>
            <a:avLst/>
            <a:gdLst>
              <a:gd name="connsiteX0" fmla="*/ 0 w 12192000"/>
              <a:gd name="connsiteY0" fmla="*/ 0 h 4704110"/>
              <a:gd name="connsiteX1" fmla="*/ 12192000 w 12192000"/>
              <a:gd name="connsiteY1" fmla="*/ 0 h 4704110"/>
              <a:gd name="connsiteX2" fmla="*/ 12192000 w 12192000"/>
              <a:gd name="connsiteY2" fmla="*/ 4704110 h 4704110"/>
              <a:gd name="connsiteX3" fmla="*/ 0 w 12192000"/>
              <a:gd name="connsiteY3" fmla="*/ 4704110 h 470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704110">
                <a:moveTo>
                  <a:pt x="0" y="0"/>
                </a:moveTo>
                <a:lnTo>
                  <a:pt x="12192000" y="0"/>
                </a:lnTo>
                <a:lnTo>
                  <a:pt x="12192000" y="4704110"/>
                </a:lnTo>
                <a:lnTo>
                  <a:pt x="0" y="4704110"/>
                </a:lnTo>
                <a:close/>
              </a:path>
            </a:pathLst>
          </a:custGeom>
          <a:gradFill>
            <a:gsLst>
              <a:gs pos="38000">
                <a:srgbClr val="020457"/>
              </a:gs>
              <a:gs pos="100000">
                <a:srgbClr val="06023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5788597" y="5447975"/>
            <a:ext cx="614806" cy="614806"/>
            <a:chOff x="1984442" y="5680952"/>
            <a:chExt cx="476655" cy="476655"/>
          </a:xfrm>
        </p:grpSpPr>
        <p:sp>
          <p:nvSpPr>
            <p:cNvPr id="28" name="椭圆 27"/>
            <p:cNvSpPr/>
            <p:nvPr/>
          </p:nvSpPr>
          <p:spPr>
            <a:xfrm>
              <a:off x="1984442" y="5680952"/>
              <a:ext cx="476655" cy="476655"/>
            </a:xfrm>
            <a:prstGeom prst="ellipse">
              <a:avLst/>
            </a:prstGeom>
            <a:solidFill>
              <a:srgbClr val="AF2E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半闭框 29"/>
            <p:cNvSpPr/>
            <p:nvPr/>
          </p:nvSpPr>
          <p:spPr>
            <a:xfrm rot="13500593">
              <a:off x="2150860" y="5797397"/>
              <a:ext cx="163177" cy="163177"/>
            </a:xfrm>
            <a:prstGeom prst="halfFrame">
              <a:avLst>
                <a:gd name="adj1" fmla="val 20149"/>
                <a:gd name="adj2" fmla="val 1895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2854325" y="1405255"/>
            <a:ext cx="9844405" cy="32950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ctr"/>
            <a:r>
              <a:rPr lang="pt-BR" altLang="en-US" sz="8000" b="0" i="0" u="none" strike="noStrike" dirty="0">
                <a:solidFill>
                  <a:schemeClr val="bg1"/>
                </a:solidFill>
                <a:effectLst/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Business Model Canvas</a:t>
            </a:r>
            <a:endParaRPr lang="pt-BR" altLang="en-US" sz="8000" b="0" i="0" u="none" strike="noStrike" dirty="0">
              <a:solidFill>
                <a:schemeClr val="bg1"/>
              </a:solidFill>
              <a:effectLst/>
              <a:latin typeface="Arial Black" panose="020B0A04020102020204" charset="0"/>
              <a:ea typeface="Arial" panose="020B0604020202020204" pitchFamily="34" charset="0"/>
              <a:cs typeface="Arial Black" panose="020B0A04020102020204" charset="0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 rotWithShape="1">
          <a:blip r:embed="rId2"/>
          <a:srcRect l="36713" t="47403" b="12967"/>
          <a:stretch>
            <a:fillRect/>
          </a:stretch>
        </p:blipFill>
        <p:spPr>
          <a:xfrm>
            <a:off x="0" y="-185"/>
            <a:ext cx="4286250" cy="2682924"/>
          </a:xfrm>
          <a:custGeom>
            <a:avLst/>
            <a:gdLst>
              <a:gd name="connsiteX0" fmla="*/ 0 w 4819031"/>
              <a:gd name="connsiteY0" fmla="*/ 0 h 3016412"/>
              <a:gd name="connsiteX1" fmla="*/ 4819031 w 4819031"/>
              <a:gd name="connsiteY1" fmla="*/ 0 h 3016412"/>
              <a:gd name="connsiteX2" fmla="*/ 4819031 w 4819031"/>
              <a:gd name="connsiteY2" fmla="*/ 3016412 h 3016412"/>
              <a:gd name="connsiteX3" fmla="*/ 0 w 4819031"/>
              <a:gd name="connsiteY3" fmla="*/ 3016412 h 301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9031" h="3016412">
                <a:moveTo>
                  <a:pt x="0" y="0"/>
                </a:moveTo>
                <a:lnTo>
                  <a:pt x="4819031" y="0"/>
                </a:lnTo>
                <a:lnTo>
                  <a:pt x="4819031" y="3016412"/>
                </a:lnTo>
                <a:lnTo>
                  <a:pt x="0" y="3016412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1B56A6"/>
            </a:gs>
            <a:gs pos="76000">
              <a:srgbClr val="221195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l="30135" t="41982" b="12967"/>
          <a:stretch>
            <a:fillRect/>
          </a:stretch>
        </p:blipFill>
        <p:spPr>
          <a:xfrm>
            <a:off x="-12033" y="0"/>
            <a:ext cx="6861406" cy="4422577"/>
          </a:xfrm>
          <a:custGeom>
            <a:avLst/>
            <a:gdLst>
              <a:gd name="connsiteX0" fmla="*/ 0 w 10639842"/>
              <a:gd name="connsiteY0" fmla="*/ 0 h 6858000"/>
              <a:gd name="connsiteX1" fmla="*/ 10639842 w 10639842"/>
              <a:gd name="connsiteY1" fmla="*/ 0 h 6858000"/>
              <a:gd name="connsiteX2" fmla="*/ 10639842 w 10639842"/>
              <a:gd name="connsiteY2" fmla="*/ 6858000 h 6858000"/>
              <a:gd name="connsiteX3" fmla="*/ 0 w 106398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39842" h="6858000">
                <a:moveTo>
                  <a:pt x="0" y="0"/>
                </a:moveTo>
                <a:lnTo>
                  <a:pt x="10639842" y="0"/>
                </a:lnTo>
                <a:lnTo>
                  <a:pt x="1063984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28" name="图形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51008" y="5118751"/>
            <a:ext cx="460121" cy="460121"/>
          </a:xfrm>
          <a:prstGeom prst="rect">
            <a:avLst/>
          </a:prstGeom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" y="0"/>
            <a:ext cx="12192635" cy="528637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35" y="5286375"/>
            <a:ext cx="12192635" cy="15716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B56A6"/>
            </a:gs>
            <a:gs pos="76000">
              <a:srgbClr val="22119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975" y="2939415"/>
            <a:ext cx="8877300" cy="2447925"/>
          </a:xfrm>
          <a:prstGeom prst="rect">
            <a:avLst/>
          </a:prstGeom>
        </p:spPr>
      </p:pic>
      <p:sp>
        <p:nvSpPr>
          <p:cNvPr id="4" name="Caixa de Texto 3"/>
          <p:cNvSpPr txBox="1"/>
          <p:nvPr/>
        </p:nvSpPr>
        <p:spPr>
          <a:xfrm>
            <a:off x="1250315" y="807720"/>
            <a:ext cx="9460865" cy="824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BR" altLang="en-US" sz="4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Custo de estruturas e Métodos de lucro</a:t>
            </a:r>
            <a:endParaRPr lang="pt-BR" altLang="en-US" sz="4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rgbClr val="190985"/>
            </a:gs>
            <a:gs pos="100000">
              <a:srgbClr val="1B59A7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rcRect r="24556" b="42640"/>
          <a:stretch>
            <a:fillRect/>
          </a:stretch>
        </p:blipFill>
        <p:spPr>
          <a:xfrm>
            <a:off x="7536125" y="3318155"/>
            <a:ext cx="4655875" cy="3539845"/>
          </a:xfrm>
          <a:custGeom>
            <a:avLst/>
            <a:gdLst>
              <a:gd name="connsiteX0" fmla="*/ 0 w 8596428"/>
              <a:gd name="connsiteY0" fmla="*/ 0 h 6535834"/>
              <a:gd name="connsiteX1" fmla="*/ 8596428 w 8596428"/>
              <a:gd name="connsiteY1" fmla="*/ 0 h 6535834"/>
              <a:gd name="connsiteX2" fmla="*/ 8596428 w 8596428"/>
              <a:gd name="connsiteY2" fmla="*/ 6535834 h 6535834"/>
              <a:gd name="connsiteX3" fmla="*/ 0 w 8596428"/>
              <a:gd name="connsiteY3" fmla="*/ 6535834 h 653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96428" h="6535834">
                <a:moveTo>
                  <a:pt x="0" y="0"/>
                </a:moveTo>
                <a:lnTo>
                  <a:pt x="8596428" y="0"/>
                </a:lnTo>
                <a:lnTo>
                  <a:pt x="8596428" y="6535834"/>
                </a:lnTo>
                <a:lnTo>
                  <a:pt x="0" y="6535834"/>
                </a:lnTo>
                <a:close/>
              </a:path>
            </a:pathLst>
          </a:custGeom>
        </p:spPr>
      </p:pic>
      <p:sp>
        <p:nvSpPr>
          <p:cNvPr id="27" name="任意多边形: 形状 26"/>
          <p:cNvSpPr/>
          <p:nvPr/>
        </p:nvSpPr>
        <p:spPr>
          <a:xfrm>
            <a:off x="0" y="5787958"/>
            <a:ext cx="12192000" cy="1070042"/>
          </a:xfrm>
          <a:custGeom>
            <a:avLst/>
            <a:gdLst>
              <a:gd name="connsiteX0" fmla="*/ 0 w 12192000"/>
              <a:gd name="connsiteY0" fmla="*/ 0 h 4704110"/>
              <a:gd name="connsiteX1" fmla="*/ 12192000 w 12192000"/>
              <a:gd name="connsiteY1" fmla="*/ 0 h 4704110"/>
              <a:gd name="connsiteX2" fmla="*/ 12192000 w 12192000"/>
              <a:gd name="connsiteY2" fmla="*/ 4704110 h 4704110"/>
              <a:gd name="connsiteX3" fmla="*/ 0 w 12192000"/>
              <a:gd name="connsiteY3" fmla="*/ 4704110 h 470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704110">
                <a:moveTo>
                  <a:pt x="0" y="0"/>
                </a:moveTo>
                <a:lnTo>
                  <a:pt x="12192000" y="0"/>
                </a:lnTo>
                <a:lnTo>
                  <a:pt x="12192000" y="4704110"/>
                </a:lnTo>
                <a:lnTo>
                  <a:pt x="0" y="4704110"/>
                </a:lnTo>
                <a:close/>
              </a:path>
            </a:pathLst>
          </a:custGeom>
          <a:gradFill>
            <a:gsLst>
              <a:gs pos="38000">
                <a:srgbClr val="020457"/>
              </a:gs>
              <a:gs pos="100000">
                <a:srgbClr val="06023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5788597" y="5447975"/>
            <a:ext cx="614806" cy="614806"/>
            <a:chOff x="1984442" y="5680952"/>
            <a:chExt cx="476655" cy="476655"/>
          </a:xfrm>
        </p:grpSpPr>
        <p:sp>
          <p:nvSpPr>
            <p:cNvPr id="28" name="椭圆 27"/>
            <p:cNvSpPr/>
            <p:nvPr/>
          </p:nvSpPr>
          <p:spPr>
            <a:xfrm>
              <a:off x="1984442" y="5680952"/>
              <a:ext cx="476655" cy="476655"/>
            </a:xfrm>
            <a:prstGeom prst="ellipse">
              <a:avLst/>
            </a:prstGeom>
            <a:solidFill>
              <a:srgbClr val="AF2E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半闭框 29"/>
            <p:cNvSpPr/>
            <p:nvPr/>
          </p:nvSpPr>
          <p:spPr>
            <a:xfrm rot="13500593">
              <a:off x="2150860" y="5797397"/>
              <a:ext cx="163177" cy="163177"/>
            </a:xfrm>
            <a:prstGeom prst="halfFrame">
              <a:avLst>
                <a:gd name="adj1" fmla="val 20149"/>
                <a:gd name="adj2" fmla="val 1895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3322320" y="1922145"/>
            <a:ext cx="5991860" cy="23304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ctr"/>
            <a:r>
              <a:rPr lang="pt-BR" altLang="en-US" sz="8000" b="0" i="0" u="none" strike="noStrike" dirty="0">
                <a:solidFill>
                  <a:schemeClr val="bg1"/>
                </a:solidFill>
                <a:effectLst/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Personas</a:t>
            </a:r>
            <a:endParaRPr lang="pt-BR" altLang="en-US" sz="8000" b="0" i="0" u="none" strike="noStrike" dirty="0">
              <a:solidFill>
                <a:schemeClr val="bg1"/>
              </a:solidFill>
              <a:effectLst/>
              <a:latin typeface="Arial Black" panose="020B0A04020102020204" charset="0"/>
              <a:ea typeface="Arial" panose="020B0604020202020204" pitchFamily="34" charset="0"/>
              <a:cs typeface="Arial Black" panose="020B0A04020102020204" charset="0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 rotWithShape="1">
          <a:blip r:embed="rId2"/>
          <a:srcRect l="36713" t="47403" b="12967"/>
          <a:stretch>
            <a:fillRect/>
          </a:stretch>
        </p:blipFill>
        <p:spPr>
          <a:xfrm>
            <a:off x="0" y="-185"/>
            <a:ext cx="4286250" cy="2682924"/>
          </a:xfrm>
          <a:custGeom>
            <a:avLst/>
            <a:gdLst>
              <a:gd name="connsiteX0" fmla="*/ 0 w 4819031"/>
              <a:gd name="connsiteY0" fmla="*/ 0 h 3016412"/>
              <a:gd name="connsiteX1" fmla="*/ 4819031 w 4819031"/>
              <a:gd name="connsiteY1" fmla="*/ 0 h 3016412"/>
              <a:gd name="connsiteX2" fmla="*/ 4819031 w 4819031"/>
              <a:gd name="connsiteY2" fmla="*/ 3016412 h 3016412"/>
              <a:gd name="connsiteX3" fmla="*/ 0 w 4819031"/>
              <a:gd name="connsiteY3" fmla="*/ 3016412 h 301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9031" h="3016412">
                <a:moveTo>
                  <a:pt x="0" y="0"/>
                </a:moveTo>
                <a:lnTo>
                  <a:pt x="4819031" y="0"/>
                </a:lnTo>
                <a:lnTo>
                  <a:pt x="4819031" y="3016412"/>
                </a:lnTo>
                <a:lnTo>
                  <a:pt x="0" y="3016412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B56A6"/>
            </a:gs>
            <a:gs pos="76000">
              <a:srgbClr val="22119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7772" y="3729448"/>
            <a:ext cx="12192000" cy="3128551"/>
          </a:xfrm>
          <a:custGeom>
            <a:avLst/>
            <a:gdLst>
              <a:gd name="connsiteX0" fmla="*/ 0 w 12192000"/>
              <a:gd name="connsiteY0" fmla="*/ 0 h 4704110"/>
              <a:gd name="connsiteX1" fmla="*/ 12192000 w 12192000"/>
              <a:gd name="connsiteY1" fmla="*/ 0 h 4704110"/>
              <a:gd name="connsiteX2" fmla="*/ 12192000 w 12192000"/>
              <a:gd name="connsiteY2" fmla="*/ 4704110 h 4704110"/>
              <a:gd name="connsiteX3" fmla="*/ 0 w 12192000"/>
              <a:gd name="connsiteY3" fmla="*/ 4704110 h 470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704110">
                <a:moveTo>
                  <a:pt x="0" y="0"/>
                </a:moveTo>
                <a:lnTo>
                  <a:pt x="12192000" y="0"/>
                </a:lnTo>
                <a:lnTo>
                  <a:pt x="12192000" y="4704110"/>
                </a:lnTo>
                <a:lnTo>
                  <a:pt x="0" y="4704110"/>
                </a:lnTo>
                <a:close/>
              </a:path>
            </a:pathLst>
          </a:custGeom>
          <a:gradFill>
            <a:gsLst>
              <a:gs pos="38000">
                <a:srgbClr val="020457"/>
              </a:gs>
              <a:gs pos="100000">
                <a:srgbClr val="06023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-317" y="173006"/>
            <a:ext cx="11216844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pt-BR" sz="2800" dirty="0">
                <a:solidFill>
                  <a:schemeClr val="bg1"/>
                </a:solidFill>
                <a:latin typeface="Arial Black" panose="020B0A04020102020204" charset="0"/>
                <a:ea typeface="Gilroy" panose="00000400000000000000" charset="0"/>
                <a:cs typeface="Arial Black" panose="020B0A04020102020204" charset="0"/>
              </a:rPr>
              <a:t>Carlos Menezes – Comandante / Gestor do Canil</a:t>
            </a:r>
            <a:endParaRPr lang="en-US" altLang="pt-BR" sz="2800" dirty="0">
              <a:solidFill>
                <a:schemeClr val="bg1"/>
              </a:solidFill>
              <a:latin typeface="Arial Black" panose="020B0A04020102020204" charset="0"/>
              <a:ea typeface="Gilroy" panose="00000400000000000000" charset="0"/>
              <a:cs typeface="Arial Black" panose="020B0A040201020202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l="1592" t="-2955" r="22964" b="59528"/>
          <a:stretch>
            <a:fillRect/>
          </a:stretch>
        </p:blipFill>
        <p:spPr>
          <a:xfrm flipH="1">
            <a:off x="153396" y="4797832"/>
            <a:ext cx="3579091" cy="2060168"/>
          </a:xfrm>
          <a:custGeom>
            <a:avLst/>
            <a:gdLst>
              <a:gd name="connsiteX0" fmla="*/ 3579091 w 3579091"/>
              <a:gd name="connsiteY0" fmla="*/ 0 h 2060168"/>
              <a:gd name="connsiteX1" fmla="*/ 0 w 3579091"/>
              <a:gd name="connsiteY1" fmla="*/ 0 h 2060168"/>
              <a:gd name="connsiteX2" fmla="*/ 0 w 3579091"/>
              <a:gd name="connsiteY2" fmla="*/ 2060168 h 2060168"/>
              <a:gd name="connsiteX3" fmla="*/ 3579091 w 3579091"/>
              <a:gd name="connsiteY3" fmla="*/ 2060168 h 206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9091" h="2060168">
                <a:moveTo>
                  <a:pt x="3579091" y="0"/>
                </a:moveTo>
                <a:lnTo>
                  <a:pt x="0" y="0"/>
                </a:lnTo>
                <a:lnTo>
                  <a:pt x="0" y="2060168"/>
                </a:lnTo>
                <a:lnTo>
                  <a:pt x="3579091" y="2060168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/>
          <a:srcRect l="46389" t="47807" b="12967"/>
          <a:stretch>
            <a:fillRect/>
          </a:stretch>
        </p:blipFill>
        <p:spPr>
          <a:xfrm flipH="1">
            <a:off x="8708932" y="0"/>
            <a:ext cx="3483068" cy="2547458"/>
          </a:xfrm>
          <a:custGeom>
            <a:avLst/>
            <a:gdLst>
              <a:gd name="connsiteX0" fmla="*/ 3483068 w 3483068"/>
              <a:gd name="connsiteY0" fmla="*/ 0 h 2547458"/>
              <a:gd name="connsiteX1" fmla="*/ 0 w 3483068"/>
              <a:gd name="connsiteY1" fmla="*/ 0 h 2547458"/>
              <a:gd name="connsiteX2" fmla="*/ 0 w 3483068"/>
              <a:gd name="connsiteY2" fmla="*/ 2547458 h 2547458"/>
              <a:gd name="connsiteX3" fmla="*/ 3483068 w 3483068"/>
              <a:gd name="connsiteY3" fmla="*/ 2547458 h 2547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3068" h="2547458">
                <a:moveTo>
                  <a:pt x="3483068" y="0"/>
                </a:moveTo>
                <a:lnTo>
                  <a:pt x="0" y="0"/>
                </a:lnTo>
                <a:lnTo>
                  <a:pt x="0" y="2547458"/>
                </a:lnTo>
                <a:lnTo>
                  <a:pt x="3483068" y="2547458"/>
                </a:lnTo>
                <a:close/>
              </a:path>
            </a:pathLst>
          </a:custGeom>
        </p:spPr>
      </p:pic>
      <p:sp>
        <p:nvSpPr>
          <p:cNvPr id="3" name="Caixa de Texto 2"/>
          <p:cNvSpPr txBox="1"/>
          <p:nvPr/>
        </p:nvSpPr>
        <p:spPr>
          <a:xfrm>
            <a:off x="471170" y="886460"/>
            <a:ext cx="10434320" cy="4867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SzPct val="150000"/>
              <a:buFont typeface="Wingdings" panose="05000000000000000000" charset="0"/>
              <a:buChar char="Ø"/>
            </a:pP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Idade: 45 anos</a:t>
            </a: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Fun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ç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o: Respons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á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vel pela gest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 administrativa e estrat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é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gica do canil. Pode ser um comandante da pol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í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cia, diretor de uma ONG ou gestor de um centro de adestramento.</a:t>
            </a: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Objetivos: Ter uma vis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 clara e centralizada do estado de cada c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 (sa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ú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de, treinamento, disponibilidade). Gerar relat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ó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rios e indicadores para superiores, 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ó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rg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os p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ú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blicos ou patrocinadores. Garantir que todos os processos estejam organizados e acess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í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veis digitalmente.</a:t>
            </a: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Dores: Perda de informa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çõ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es importantes em pap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é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is ou planilhas soltas. Dificuldade em ter uma vis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 geral r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á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pida do canil. Tempo excessivo gasto para consolidar dados de diferentes setores.</a:t>
            </a: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B56A6"/>
            </a:gs>
            <a:gs pos="76000">
              <a:srgbClr val="22119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7772" y="3729448"/>
            <a:ext cx="12192000" cy="3128551"/>
          </a:xfrm>
          <a:custGeom>
            <a:avLst/>
            <a:gdLst>
              <a:gd name="connsiteX0" fmla="*/ 0 w 12192000"/>
              <a:gd name="connsiteY0" fmla="*/ 0 h 4704110"/>
              <a:gd name="connsiteX1" fmla="*/ 12192000 w 12192000"/>
              <a:gd name="connsiteY1" fmla="*/ 0 h 4704110"/>
              <a:gd name="connsiteX2" fmla="*/ 12192000 w 12192000"/>
              <a:gd name="connsiteY2" fmla="*/ 4704110 h 4704110"/>
              <a:gd name="connsiteX3" fmla="*/ 0 w 12192000"/>
              <a:gd name="connsiteY3" fmla="*/ 4704110 h 470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704110">
                <a:moveTo>
                  <a:pt x="0" y="0"/>
                </a:moveTo>
                <a:lnTo>
                  <a:pt x="12192000" y="0"/>
                </a:lnTo>
                <a:lnTo>
                  <a:pt x="12192000" y="4704110"/>
                </a:lnTo>
                <a:lnTo>
                  <a:pt x="0" y="4704110"/>
                </a:lnTo>
                <a:close/>
              </a:path>
            </a:pathLst>
          </a:custGeom>
          <a:gradFill>
            <a:gsLst>
              <a:gs pos="38000">
                <a:srgbClr val="020457"/>
              </a:gs>
              <a:gs pos="100000">
                <a:srgbClr val="06023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-317" y="173006"/>
            <a:ext cx="11216844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pt-BR" sz="2800" dirty="0">
                <a:solidFill>
                  <a:schemeClr val="bg1"/>
                </a:solidFill>
                <a:latin typeface="Arial Black" panose="020B0A04020102020204" charset="0"/>
                <a:ea typeface="Gilroy" panose="00000400000000000000" charset="0"/>
                <a:cs typeface="Arial Black" panose="020B0A04020102020204" charset="0"/>
              </a:rPr>
              <a:t>Mariana Costa – Veterin</a:t>
            </a:r>
            <a:r>
              <a:rPr lang="en-US" altLang="en-US" sz="2800" dirty="0">
                <a:solidFill>
                  <a:schemeClr val="bg1"/>
                </a:solidFill>
                <a:latin typeface="Arial Black" panose="020B0A04020102020204" charset="0"/>
                <a:ea typeface="Gilroy" panose="00000400000000000000" charset="0"/>
                <a:cs typeface="Arial Black" panose="020B0A04020102020204" charset="0"/>
              </a:rPr>
              <a:t>á</a:t>
            </a:r>
            <a:r>
              <a:rPr lang="en-US" altLang="pt-BR" sz="2800" dirty="0">
                <a:solidFill>
                  <a:schemeClr val="bg1"/>
                </a:solidFill>
                <a:latin typeface="Arial Black" panose="020B0A04020102020204" charset="0"/>
                <a:ea typeface="Gilroy" panose="00000400000000000000" charset="0"/>
                <a:cs typeface="Arial Black" panose="020B0A04020102020204" charset="0"/>
              </a:rPr>
              <a:t>ria</a:t>
            </a:r>
            <a:endParaRPr lang="en-US" altLang="pt-BR" sz="2800" dirty="0">
              <a:solidFill>
                <a:schemeClr val="bg1"/>
              </a:solidFill>
              <a:latin typeface="Arial Black" panose="020B0A04020102020204" charset="0"/>
              <a:ea typeface="Gilroy" panose="00000400000000000000" charset="0"/>
              <a:cs typeface="Arial Black" panose="020B0A040201020202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l="1592" t="-2955" r="22964" b="59528"/>
          <a:stretch>
            <a:fillRect/>
          </a:stretch>
        </p:blipFill>
        <p:spPr>
          <a:xfrm flipH="1">
            <a:off x="153396" y="4797832"/>
            <a:ext cx="3579091" cy="2060168"/>
          </a:xfrm>
          <a:custGeom>
            <a:avLst/>
            <a:gdLst>
              <a:gd name="connsiteX0" fmla="*/ 3579091 w 3579091"/>
              <a:gd name="connsiteY0" fmla="*/ 0 h 2060168"/>
              <a:gd name="connsiteX1" fmla="*/ 0 w 3579091"/>
              <a:gd name="connsiteY1" fmla="*/ 0 h 2060168"/>
              <a:gd name="connsiteX2" fmla="*/ 0 w 3579091"/>
              <a:gd name="connsiteY2" fmla="*/ 2060168 h 2060168"/>
              <a:gd name="connsiteX3" fmla="*/ 3579091 w 3579091"/>
              <a:gd name="connsiteY3" fmla="*/ 2060168 h 206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9091" h="2060168">
                <a:moveTo>
                  <a:pt x="3579091" y="0"/>
                </a:moveTo>
                <a:lnTo>
                  <a:pt x="0" y="0"/>
                </a:lnTo>
                <a:lnTo>
                  <a:pt x="0" y="2060168"/>
                </a:lnTo>
                <a:lnTo>
                  <a:pt x="3579091" y="2060168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/>
          <a:srcRect l="46389" t="47807" b="12967"/>
          <a:stretch>
            <a:fillRect/>
          </a:stretch>
        </p:blipFill>
        <p:spPr>
          <a:xfrm flipH="1">
            <a:off x="8708932" y="0"/>
            <a:ext cx="3483068" cy="2547458"/>
          </a:xfrm>
          <a:custGeom>
            <a:avLst/>
            <a:gdLst>
              <a:gd name="connsiteX0" fmla="*/ 3483068 w 3483068"/>
              <a:gd name="connsiteY0" fmla="*/ 0 h 2547458"/>
              <a:gd name="connsiteX1" fmla="*/ 0 w 3483068"/>
              <a:gd name="connsiteY1" fmla="*/ 0 h 2547458"/>
              <a:gd name="connsiteX2" fmla="*/ 0 w 3483068"/>
              <a:gd name="connsiteY2" fmla="*/ 2547458 h 2547458"/>
              <a:gd name="connsiteX3" fmla="*/ 3483068 w 3483068"/>
              <a:gd name="connsiteY3" fmla="*/ 2547458 h 2547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3068" h="2547458">
                <a:moveTo>
                  <a:pt x="3483068" y="0"/>
                </a:moveTo>
                <a:lnTo>
                  <a:pt x="0" y="0"/>
                </a:lnTo>
                <a:lnTo>
                  <a:pt x="0" y="2547458"/>
                </a:lnTo>
                <a:lnTo>
                  <a:pt x="3483068" y="2547458"/>
                </a:lnTo>
                <a:close/>
              </a:path>
            </a:pathLst>
          </a:custGeom>
        </p:spPr>
      </p:pic>
      <p:sp>
        <p:nvSpPr>
          <p:cNvPr id="3" name="Caixa de Texto 2"/>
          <p:cNvSpPr txBox="1"/>
          <p:nvPr/>
        </p:nvSpPr>
        <p:spPr>
          <a:xfrm>
            <a:off x="471170" y="886460"/>
            <a:ext cx="10434320" cy="4867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SzPct val="150000"/>
              <a:buFont typeface="Wingdings" panose="05000000000000000000" charset="0"/>
              <a:buChar char="Ø"/>
            </a:pP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Idade: 33 anos</a:t>
            </a: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Fun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ç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o: Respons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á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vel pelo acompanhamento m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é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dico e bem-estar dos c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es. Atua tanto em canis policiais quanto civis.</a:t>
            </a: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Objetivos: Acompanhar o hist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ó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rico de sa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ú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de de cada c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 de forma centralizada. Registrar vacinas, consultas, exames e tratamentos de forma pr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á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tica. Emitir alertas e recomenda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çõ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es sobre dietas, medica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çõ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es e cuidados.</a:t>
            </a: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Dores: Falta de hist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ó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rico completo sobre os c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es. Risco de repetir ou esquecer tratamentos. Dificuldade em comunicar informa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çõ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es de sa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ú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de ao gestor e aos treinadores de forma r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á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pida.</a:t>
            </a: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B56A6"/>
            </a:gs>
            <a:gs pos="76000">
              <a:srgbClr val="22119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7772" y="3729448"/>
            <a:ext cx="12192000" cy="3128551"/>
          </a:xfrm>
          <a:custGeom>
            <a:avLst/>
            <a:gdLst>
              <a:gd name="connsiteX0" fmla="*/ 0 w 12192000"/>
              <a:gd name="connsiteY0" fmla="*/ 0 h 4704110"/>
              <a:gd name="connsiteX1" fmla="*/ 12192000 w 12192000"/>
              <a:gd name="connsiteY1" fmla="*/ 0 h 4704110"/>
              <a:gd name="connsiteX2" fmla="*/ 12192000 w 12192000"/>
              <a:gd name="connsiteY2" fmla="*/ 4704110 h 4704110"/>
              <a:gd name="connsiteX3" fmla="*/ 0 w 12192000"/>
              <a:gd name="connsiteY3" fmla="*/ 4704110 h 470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704110">
                <a:moveTo>
                  <a:pt x="0" y="0"/>
                </a:moveTo>
                <a:lnTo>
                  <a:pt x="12192000" y="0"/>
                </a:lnTo>
                <a:lnTo>
                  <a:pt x="12192000" y="4704110"/>
                </a:lnTo>
                <a:lnTo>
                  <a:pt x="0" y="4704110"/>
                </a:lnTo>
                <a:close/>
              </a:path>
            </a:pathLst>
          </a:custGeom>
          <a:gradFill>
            <a:gsLst>
              <a:gs pos="38000">
                <a:srgbClr val="020457"/>
              </a:gs>
              <a:gs pos="100000">
                <a:srgbClr val="06023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-317" y="173006"/>
            <a:ext cx="11216844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pt-BR" sz="2800" dirty="0">
                <a:solidFill>
                  <a:schemeClr val="bg1"/>
                </a:solidFill>
                <a:latin typeface="Arial Black" panose="020B0A04020102020204" charset="0"/>
                <a:ea typeface="Gilroy" panose="00000400000000000000" charset="0"/>
                <a:cs typeface="Arial Black" panose="020B0A04020102020204" charset="0"/>
              </a:rPr>
              <a:t>Rafael Lima – Treinador / Parceiro de Campo</a:t>
            </a:r>
            <a:endParaRPr lang="en-US" altLang="pt-BR" sz="2800" dirty="0">
              <a:solidFill>
                <a:schemeClr val="bg1"/>
              </a:solidFill>
              <a:latin typeface="Arial Black" panose="020B0A04020102020204" charset="0"/>
              <a:ea typeface="Gilroy" panose="00000400000000000000" charset="0"/>
              <a:cs typeface="Arial Black" panose="020B0A040201020202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l="1592" t="-2955" r="22964" b="59528"/>
          <a:stretch>
            <a:fillRect/>
          </a:stretch>
        </p:blipFill>
        <p:spPr>
          <a:xfrm flipH="1">
            <a:off x="153396" y="4797832"/>
            <a:ext cx="3579091" cy="2060168"/>
          </a:xfrm>
          <a:custGeom>
            <a:avLst/>
            <a:gdLst>
              <a:gd name="connsiteX0" fmla="*/ 3579091 w 3579091"/>
              <a:gd name="connsiteY0" fmla="*/ 0 h 2060168"/>
              <a:gd name="connsiteX1" fmla="*/ 0 w 3579091"/>
              <a:gd name="connsiteY1" fmla="*/ 0 h 2060168"/>
              <a:gd name="connsiteX2" fmla="*/ 0 w 3579091"/>
              <a:gd name="connsiteY2" fmla="*/ 2060168 h 2060168"/>
              <a:gd name="connsiteX3" fmla="*/ 3579091 w 3579091"/>
              <a:gd name="connsiteY3" fmla="*/ 2060168 h 206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9091" h="2060168">
                <a:moveTo>
                  <a:pt x="3579091" y="0"/>
                </a:moveTo>
                <a:lnTo>
                  <a:pt x="0" y="0"/>
                </a:lnTo>
                <a:lnTo>
                  <a:pt x="0" y="2060168"/>
                </a:lnTo>
                <a:lnTo>
                  <a:pt x="3579091" y="2060168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/>
          <a:srcRect l="46389" t="47807" b="12967"/>
          <a:stretch>
            <a:fillRect/>
          </a:stretch>
        </p:blipFill>
        <p:spPr>
          <a:xfrm flipH="1">
            <a:off x="8708932" y="0"/>
            <a:ext cx="3483068" cy="2547458"/>
          </a:xfrm>
          <a:custGeom>
            <a:avLst/>
            <a:gdLst>
              <a:gd name="connsiteX0" fmla="*/ 3483068 w 3483068"/>
              <a:gd name="connsiteY0" fmla="*/ 0 h 2547458"/>
              <a:gd name="connsiteX1" fmla="*/ 0 w 3483068"/>
              <a:gd name="connsiteY1" fmla="*/ 0 h 2547458"/>
              <a:gd name="connsiteX2" fmla="*/ 0 w 3483068"/>
              <a:gd name="connsiteY2" fmla="*/ 2547458 h 2547458"/>
              <a:gd name="connsiteX3" fmla="*/ 3483068 w 3483068"/>
              <a:gd name="connsiteY3" fmla="*/ 2547458 h 2547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3068" h="2547458">
                <a:moveTo>
                  <a:pt x="3483068" y="0"/>
                </a:moveTo>
                <a:lnTo>
                  <a:pt x="0" y="0"/>
                </a:lnTo>
                <a:lnTo>
                  <a:pt x="0" y="2547458"/>
                </a:lnTo>
                <a:lnTo>
                  <a:pt x="3483068" y="2547458"/>
                </a:lnTo>
                <a:close/>
              </a:path>
            </a:pathLst>
          </a:custGeom>
        </p:spPr>
      </p:pic>
      <p:sp>
        <p:nvSpPr>
          <p:cNvPr id="3" name="Caixa de Texto 2"/>
          <p:cNvSpPr txBox="1"/>
          <p:nvPr/>
        </p:nvSpPr>
        <p:spPr>
          <a:xfrm>
            <a:off x="471170" y="886460"/>
            <a:ext cx="10434320" cy="4867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SzPct val="150000"/>
              <a:buFont typeface="Wingdings" panose="05000000000000000000" charset="0"/>
              <a:buChar char="Ø"/>
            </a:pP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Idade: 28 anos</a:t>
            </a: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Fun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ç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o: Respons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á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vel pelos treinamentos di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á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rios dos c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es e, em alguns casos, atua como parceiro do c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 em rondas, miss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õ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es ou atividades de campo.</a:t>
            </a: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Objetivos: Registrar treinos e desempenho dos c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es. Controlar evolu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ç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 em obedi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ê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ncia, faro e outras habilidades espec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í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ficas. Consultar rapidamente se o c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 est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á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 apto para determinada atividade ou miss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o.</a:t>
            </a: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Dores: Necessidade de relat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ó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rios r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á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pidos para uso em campo. Dificuldade em registrar atividades de forma pr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á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tica no dia a dia. Pouca integra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ç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 entre dados de treinamento e informa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çõ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es m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é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dicas dos c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es.</a:t>
            </a: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B56A6"/>
            </a:gs>
            <a:gs pos="76000">
              <a:srgbClr val="22119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/>
          <p:cNvSpPr/>
          <p:nvPr/>
        </p:nvSpPr>
        <p:spPr>
          <a:xfrm>
            <a:off x="7772" y="3729448"/>
            <a:ext cx="12192000" cy="3128551"/>
          </a:xfrm>
          <a:custGeom>
            <a:avLst/>
            <a:gdLst>
              <a:gd name="connsiteX0" fmla="*/ 0 w 12192000"/>
              <a:gd name="connsiteY0" fmla="*/ 0 h 4704110"/>
              <a:gd name="connsiteX1" fmla="*/ 12192000 w 12192000"/>
              <a:gd name="connsiteY1" fmla="*/ 0 h 4704110"/>
              <a:gd name="connsiteX2" fmla="*/ 12192000 w 12192000"/>
              <a:gd name="connsiteY2" fmla="*/ 4704110 h 4704110"/>
              <a:gd name="connsiteX3" fmla="*/ 0 w 12192000"/>
              <a:gd name="connsiteY3" fmla="*/ 4704110 h 470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704110">
                <a:moveTo>
                  <a:pt x="0" y="0"/>
                </a:moveTo>
                <a:lnTo>
                  <a:pt x="12192000" y="0"/>
                </a:lnTo>
                <a:lnTo>
                  <a:pt x="12192000" y="4704110"/>
                </a:lnTo>
                <a:lnTo>
                  <a:pt x="0" y="4704110"/>
                </a:lnTo>
                <a:close/>
              </a:path>
            </a:pathLst>
          </a:custGeom>
          <a:gradFill>
            <a:gsLst>
              <a:gs pos="38000">
                <a:srgbClr val="020457"/>
              </a:gs>
              <a:gs pos="100000">
                <a:srgbClr val="06023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-317" y="173006"/>
            <a:ext cx="11216844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pt-BR" sz="2800" dirty="0">
                <a:solidFill>
                  <a:schemeClr val="bg1"/>
                </a:solidFill>
                <a:latin typeface="Arial Black" panose="020B0A04020102020204" charset="0"/>
                <a:ea typeface="Gilroy" panose="00000400000000000000" charset="0"/>
                <a:cs typeface="Arial Black" panose="020B0A04020102020204" charset="0"/>
              </a:rPr>
              <a:t>Ana Bezerra – Assistente Administrativa / Volunt</a:t>
            </a:r>
            <a:r>
              <a:rPr lang="en-US" altLang="en-US" sz="2800" dirty="0">
                <a:solidFill>
                  <a:schemeClr val="bg1"/>
                </a:solidFill>
                <a:latin typeface="Arial Black" panose="020B0A04020102020204" charset="0"/>
                <a:ea typeface="Gilroy" panose="00000400000000000000" charset="0"/>
                <a:cs typeface="Arial Black" panose="020B0A04020102020204" charset="0"/>
              </a:rPr>
              <a:t>á</a:t>
            </a:r>
            <a:r>
              <a:rPr lang="en-US" altLang="pt-BR" sz="2800" dirty="0">
                <a:solidFill>
                  <a:schemeClr val="bg1"/>
                </a:solidFill>
                <a:latin typeface="Arial Black" panose="020B0A04020102020204" charset="0"/>
                <a:ea typeface="Gilroy" panose="00000400000000000000" charset="0"/>
                <a:cs typeface="Arial Black" panose="020B0A04020102020204" charset="0"/>
              </a:rPr>
              <a:t>ria</a:t>
            </a:r>
            <a:endParaRPr lang="en-US" altLang="pt-BR" sz="2800" dirty="0">
              <a:solidFill>
                <a:schemeClr val="bg1"/>
              </a:solidFill>
              <a:latin typeface="Arial Black" panose="020B0A04020102020204" charset="0"/>
              <a:ea typeface="Gilroy" panose="00000400000000000000" charset="0"/>
              <a:cs typeface="Arial Black" panose="020B0A040201020202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/>
          <a:srcRect l="1592" t="-2955" r="22964" b="59528"/>
          <a:stretch>
            <a:fillRect/>
          </a:stretch>
        </p:blipFill>
        <p:spPr>
          <a:xfrm flipH="1">
            <a:off x="153396" y="4797832"/>
            <a:ext cx="3579091" cy="2060168"/>
          </a:xfrm>
          <a:custGeom>
            <a:avLst/>
            <a:gdLst>
              <a:gd name="connsiteX0" fmla="*/ 3579091 w 3579091"/>
              <a:gd name="connsiteY0" fmla="*/ 0 h 2060168"/>
              <a:gd name="connsiteX1" fmla="*/ 0 w 3579091"/>
              <a:gd name="connsiteY1" fmla="*/ 0 h 2060168"/>
              <a:gd name="connsiteX2" fmla="*/ 0 w 3579091"/>
              <a:gd name="connsiteY2" fmla="*/ 2060168 h 2060168"/>
              <a:gd name="connsiteX3" fmla="*/ 3579091 w 3579091"/>
              <a:gd name="connsiteY3" fmla="*/ 2060168 h 206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9091" h="2060168">
                <a:moveTo>
                  <a:pt x="3579091" y="0"/>
                </a:moveTo>
                <a:lnTo>
                  <a:pt x="0" y="0"/>
                </a:lnTo>
                <a:lnTo>
                  <a:pt x="0" y="2060168"/>
                </a:lnTo>
                <a:lnTo>
                  <a:pt x="3579091" y="2060168"/>
                </a:lnTo>
                <a:close/>
              </a:path>
            </a:pathLst>
          </a:cu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2"/>
          <a:srcRect l="46389" t="47807" b="12967"/>
          <a:stretch>
            <a:fillRect/>
          </a:stretch>
        </p:blipFill>
        <p:spPr>
          <a:xfrm flipH="1">
            <a:off x="8708932" y="0"/>
            <a:ext cx="3483068" cy="2547458"/>
          </a:xfrm>
          <a:custGeom>
            <a:avLst/>
            <a:gdLst>
              <a:gd name="connsiteX0" fmla="*/ 3483068 w 3483068"/>
              <a:gd name="connsiteY0" fmla="*/ 0 h 2547458"/>
              <a:gd name="connsiteX1" fmla="*/ 0 w 3483068"/>
              <a:gd name="connsiteY1" fmla="*/ 0 h 2547458"/>
              <a:gd name="connsiteX2" fmla="*/ 0 w 3483068"/>
              <a:gd name="connsiteY2" fmla="*/ 2547458 h 2547458"/>
              <a:gd name="connsiteX3" fmla="*/ 3483068 w 3483068"/>
              <a:gd name="connsiteY3" fmla="*/ 2547458 h 2547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3068" h="2547458">
                <a:moveTo>
                  <a:pt x="3483068" y="0"/>
                </a:moveTo>
                <a:lnTo>
                  <a:pt x="0" y="0"/>
                </a:lnTo>
                <a:lnTo>
                  <a:pt x="0" y="2547458"/>
                </a:lnTo>
                <a:lnTo>
                  <a:pt x="3483068" y="2547458"/>
                </a:lnTo>
                <a:close/>
              </a:path>
            </a:pathLst>
          </a:custGeom>
        </p:spPr>
      </p:pic>
      <p:sp>
        <p:nvSpPr>
          <p:cNvPr id="3" name="Caixa de Texto 2"/>
          <p:cNvSpPr txBox="1"/>
          <p:nvPr/>
        </p:nvSpPr>
        <p:spPr>
          <a:xfrm>
            <a:off x="471170" y="886460"/>
            <a:ext cx="10434320" cy="4867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SzPct val="150000"/>
              <a:buFont typeface="Wingdings" panose="05000000000000000000" charset="0"/>
              <a:buChar char="Ø"/>
            </a:pP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Idade: 24 anos</a:t>
            </a: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Fun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ç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o: Apoia na organiza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ç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 de documentos, cadastros e comunica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ç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 interna do canil. Em canis civis pode ser volunt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á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ria, em policiais pode ser uma assistente administrativa.</a:t>
            </a: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Objetivos: Manter cadastros de c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ã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es, agendamentos e registros sempre atualizados. Apoiar gestores e veterin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á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rios no fluxo de informa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çõ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es.</a:t>
            </a: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marL="342900" indent="-342900">
              <a:buSzPct val="150000"/>
              <a:buFont typeface="Wingdings" panose="05000000000000000000" charset="0"/>
              <a:buChar char="Ø"/>
            </a:pP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Dores: Perda de tempo em processos burocr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á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ticos repetitivos. Dificuldade em consolidar informa</a:t>
            </a:r>
            <a:r>
              <a:rPr lang="en-US" altLang="en-US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çõ</a:t>
            </a:r>
            <a:r>
              <a:rPr lang="en-US" altLang="pt-BR" sz="20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es que chegam de diferentes pessoas em diferentes formatos.</a:t>
            </a:r>
            <a:endParaRPr lang="en-US" altLang="pt-BR" sz="20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rgbClr val="190985"/>
            </a:gs>
            <a:gs pos="100000">
              <a:srgbClr val="1B59A7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rcRect r="24556" b="42640"/>
          <a:stretch>
            <a:fillRect/>
          </a:stretch>
        </p:blipFill>
        <p:spPr>
          <a:xfrm>
            <a:off x="7536125" y="3318155"/>
            <a:ext cx="4655875" cy="3539845"/>
          </a:xfrm>
          <a:custGeom>
            <a:avLst/>
            <a:gdLst>
              <a:gd name="connsiteX0" fmla="*/ 0 w 8596428"/>
              <a:gd name="connsiteY0" fmla="*/ 0 h 6535834"/>
              <a:gd name="connsiteX1" fmla="*/ 8596428 w 8596428"/>
              <a:gd name="connsiteY1" fmla="*/ 0 h 6535834"/>
              <a:gd name="connsiteX2" fmla="*/ 8596428 w 8596428"/>
              <a:gd name="connsiteY2" fmla="*/ 6535834 h 6535834"/>
              <a:gd name="connsiteX3" fmla="*/ 0 w 8596428"/>
              <a:gd name="connsiteY3" fmla="*/ 6535834 h 653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96428" h="6535834">
                <a:moveTo>
                  <a:pt x="0" y="0"/>
                </a:moveTo>
                <a:lnTo>
                  <a:pt x="8596428" y="0"/>
                </a:lnTo>
                <a:lnTo>
                  <a:pt x="8596428" y="6535834"/>
                </a:lnTo>
                <a:lnTo>
                  <a:pt x="0" y="6535834"/>
                </a:lnTo>
                <a:close/>
              </a:path>
            </a:pathLst>
          </a:custGeom>
        </p:spPr>
      </p:pic>
      <p:sp>
        <p:nvSpPr>
          <p:cNvPr id="27" name="任意多边形: 形状 26"/>
          <p:cNvSpPr/>
          <p:nvPr/>
        </p:nvSpPr>
        <p:spPr>
          <a:xfrm>
            <a:off x="0" y="5787958"/>
            <a:ext cx="12192000" cy="1070042"/>
          </a:xfrm>
          <a:custGeom>
            <a:avLst/>
            <a:gdLst>
              <a:gd name="connsiteX0" fmla="*/ 0 w 12192000"/>
              <a:gd name="connsiteY0" fmla="*/ 0 h 4704110"/>
              <a:gd name="connsiteX1" fmla="*/ 12192000 w 12192000"/>
              <a:gd name="connsiteY1" fmla="*/ 0 h 4704110"/>
              <a:gd name="connsiteX2" fmla="*/ 12192000 w 12192000"/>
              <a:gd name="connsiteY2" fmla="*/ 4704110 h 4704110"/>
              <a:gd name="connsiteX3" fmla="*/ 0 w 12192000"/>
              <a:gd name="connsiteY3" fmla="*/ 4704110 h 470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704110">
                <a:moveTo>
                  <a:pt x="0" y="0"/>
                </a:moveTo>
                <a:lnTo>
                  <a:pt x="12192000" y="0"/>
                </a:lnTo>
                <a:lnTo>
                  <a:pt x="12192000" y="4704110"/>
                </a:lnTo>
                <a:lnTo>
                  <a:pt x="0" y="4704110"/>
                </a:lnTo>
                <a:close/>
              </a:path>
            </a:pathLst>
          </a:custGeom>
          <a:gradFill>
            <a:gsLst>
              <a:gs pos="38000">
                <a:srgbClr val="020457"/>
              </a:gs>
              <a:gs pos="100000">
                <a:srgbClr val="06023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5788597" y="5447975"/>
            <a:ext cx="614806" cy="614806"/>
            <a:chOff x="1984442" y="5680952"/>
            <a:chExt cx="476655" cy="476655"/>
          </a:xfrm>
        </p:grpSpPr>
        <p:sp>
          <p:nvSpPr>
            <p:cNvPr id="28" name="椭圆 27"/>
            <p:cNvSpPr/>
            <p:nvPr/>
          </p:nvSpPr>
          <p:spPr>
            <a:xfrm>
              <a:off x="1984442" y="5680952"/>
              <a:ext cx="476655" cy="476655"/>
            </a:xfrm>
            <a:prstGeom prst="ellipse">
              <a:avLst/>
            </a:prstGeom>
            <a:solidFill>
              <a:srgbClr val="AF2E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半闭框 29"/>
            <p:cNvSpPr/>
            <p:nvPr/>
          </p:nvSpPr>
          <p:spPr>
            <a:xfrm rot="13500593">
              <a:off x="2150860" y="5797397"/>
              <a:ext cx="163177" cy="163177"/>
            </a:xfrm>
            <a:prstGeom prst="halfFrame">
              <a:avLst>
                <a:gd name="adj1" fmla="val 20149"/>
                <a:gd name="adj2" fmla="val 1895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2854325" y="1405255"/>
            <a:ext cx="9844405" cy="32950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ctr"/>
            <a:r>
              <a:rPr lang="pt-BR" altLang="en-US" sz="8000" b="0" i="0" u="none" strike="noStrike" dirty="0">
                <a:solidFill>
                  <a:schemeClr val="bg1"/>
                </a:solidFill>
                <a:effectLst/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Diagrama de caso de uso</a:t>
            </a:r>
            <a:endParaRPr lang="pt-BR" altLang="en-US" sz="8000" b="0" i="0" u="none" strike="noStrike" dirty="0">
              <a:solidFill>
                <a:schemeClr val="bg1"/>
              </a:solidFill>
              <a:effectLst/>
              <a:latin typeface="Arial Black" panose="020B0A04020102020204" charset="0"/>
              <a:ea typeface="Arial" panose="020B0604020202020204" pitchFamily="34" charset="0"/>
              <a:cs typeface="Arial Black" panose="020B0A04020102020204" charset="0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 rotWithShape="1">
          <a:blip r:embed="rId2"/>
          <a:srcRect l="36713" t="47403" b="12967"/>
          <a:stretch>
            <a:fillRect/>
          </a:stretch>
        </p:blipFill>
        <p:spPr>
          <a:xfrm>
            <a:off x="0" y="-185"/>
            <a:ext cx="4286250" cy="2682924"/>
          </a:xfrm>
          <a:custGeom>
            <a:avLst/>
            <a:gdLst>
              <a:gd name="connsiteX0" fmla="*/ 0 w 4819031"/>
              <a:gd name="connsiteY0" fmla="*/ 0 h 3016412"/>
              <a:gd name="connsiteX1" fmla="*/ 4819031 w 4819031"/>
              <a:gd name="connsiteY1" fmla="*/ 0 h 3016412"/>
              <a:gd name="connsiteX2" fmla="*/ 4819031 w 4819031"/>
              <a:gd name="connsiteY2" fmla="*/ 3016412 h 3016412"/>
              <a:gd name="connsiteX3" fmla="*/ 0 w 4819031"/>
              <a:gd name="connsiteY3" fmla="*/ 3016412 h 301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9031" h="3016412">
                <a:moveTo>
                  <a:pt x="0" y="0"/>
                </a:moveTo>
                <a:lnTo>
                  <a:pt x="4819031" y="0"/>
                </a:lnTo>
                <a:lnTo>
                  <a:pt x="4819031" y="3016412"/>
                </a:lnTo>
                <a:lnTo>
                  <a:pt x="0" y="3016412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B56A6"/>
            </a:gs>
            <a:gs pos="76000">
              <a:srgbClr val="22119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rgbClr val="190985"/>
            </a:gs>
            <a:gs pos="100000">
              <a:srgbClr val="1B59A7"/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1"/>
          <a:srcRect r="24556" b="42640"/>
          <a:stretch>
            <a:fillRect/>
          </a:stretch>
        </p:blipFill>
        <p:spPr>
          <a:xfrm>
            <a:off x="7536125" y="3318155"/>
            <a:ext cx="4655875" cy="3539845"/>
          </a:xfrm>
          <a:custGeom>
            <a:avLst/>
            <a:gdLst>
              <a:gd name="connsiteX0" fmla="*/ 0 w 8596428"/>
              <a:gd name="connsiteY0" fmla="*/ 0 h 6535834"/>
              <a:gd name="connsiteX1" fmla="*/ 8596428 w 8596428"/>
              <a:gd name="connsiteY1" fmla="*/ 0 h 6535834"/>
              <a:gd name="connsiteX2" fmla="*/ 8596428 w 8596428"/>
              <a:gd name="connsiteY2" fmla="*/ 6535834 h 6535834"/>
              <a:gd name="connsiteX3" fmla="*/ 0 w 8596428"/>
              <a:gd name="connsiteY3" fmla="*/ 6535834 h 653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96428" h="6535834">
                <a:moveTo>
                  <a:pt x="0" y="0"/>
                </a:moveTo>
                <a:lnTo>
                  <a:pt x="8596428" y="0"/>
                </a:lnTo>
                <a:lnTo>
                  <a:pt x="8596428" y="6535834"/>
                </a:lnTo>
                <a:lnTo>
                  <a:pt x="0" y="6535834"/>
                </a:lnTo>
                <a:close/>
              </a:path>
            </a:pathLst>
          </a:custGeom>
        </p:spPr>
      </p:pic>
      <p:sp>
        <p:nvSpPr>
          <p:cNvPr id="27" name="任意多边形: 形状 26"/>
          <p:cNvSpPr/>
          <p:nvPr/>
        </p:nvSpPr>
        <p:spPr>
          <a:xfrm>
            <a:off x="0" y="5787958"/>
            <a:ext cx="12192000" cy="1070042"/>
          </a:xfrm>
          <a:custGeom>
            <a:avLst/>
            <a:gdLst>
              <a:gd name="connsiteX0" fmla="*/ 0 w 12192000"/>
              <a:gd name="connsiteY0" fmla="*/ 0 h 4704110"/>
              <a:gd name="connsiteX1" fmla="*/ 12192000 w 12192000"/>
              <a:gd name="connsiteY1" fmla="*/ 0 h 4704110"/>
              <a:gd name="connsiteX2" fmla="*/ 12192000 w 12192000"/>
              <a:gd name="connsiteY2" fmla="*/ 4704110 h 4704110"/>
              <a:gd name="connsiteX3" fmla="*/ 0 w 12192000"/>
              <a:gd name="connsiteY3" fmla="*/ 4704110 h 4704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704110">
                <a:moveTo>
                  <a:pt x="0" y="0"/>
                </a:moveTo>
                <a:lnTo>
                  <a:pt x="12192000" y="0"/>
                </a:lnTo>
                <a:lnTo>
                  <a:pt x="12192000" y="4704110"/>
                </a:lnTo>
                <a:lnTo>
                  <a:pt x="0" y="4704110"/>
                </a:lnTo>
                <a:close/>
              </a:path>
            </a:pathLst>
          </a:custGeom>
          <a:gradFill>
            <a:gsLst>
              <a:gs pos="38000">
                <a:srgbClr val="020457"/>
              </a:gs>
              <a:gs pos="100000">
                <a:srgbClr val="06023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5788597" y="5447975"/>
            <a:ext cx="614806" cy="614806"/>
            <a:chOff x="1984442" y="5680952"/>
            <a:chExt cx="476655" cy="476655"/>
          </a:xfrm>
        </p:grpSpPr>
        <p:sp>
          <p:nvSpPr>
            <p:cNvPr id="28" name="椭圆 27"/>
            <p:cNvSpPr/>
            <p:nvPr/>
          </p:nvSpPr>
          <p:spPr>
            <a:xfrm>
              <a:off x="1984442" y="5680952"/>
              <a:ext cx="476655" cy="476655"/>
            </a:xfrm>
            <a:prstGeom prst="ellipse">
              <a:avLst/>
            </a:prstGeom>
            <a:solidFill>
              <a:srgbClr val="AF2E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半闭框 29"/>
            <p:cNvSpPr/>
            <p:nvPr/>
          </p:nvSpPr>
          <p:spPr>
            <a:xfrm rot="13500593">
              <a:off x="2150860" y="5797397"/>
              <a:ext cx="163177" cy="163177"/>
            </a:xfrm>
            <a:prstGeom prst="halfFrame">
              <a:avLst>
                <a:gd name="adj1" fmla="val 20149"/>
                <a:gd name="adj2" fmla="val 1895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3322320" y="1922145"/>
            <a:ext cx="5991860" cy="23304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fontAlgn="ctr"/>
            <a:r>
              <a:rPr lang="pt-BR" altLang="en-US" sz="8000" b="0" i="0" u="none" strike="noStrike" dirty="0">
                <a:solidFill>
                  <a:schemeClr val="bg1"/>
                </a:solidFill>
                <a:effectLst/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Protótipo Parcial</a:t>
            </a:r>
            <a:endParaRPr lang="pt-BR" altLang="en-US" sz="8000" b="0" i="0" u="none" strike="noStrike" dirty="0">
              <a:solidFill>
                <a:schemeClr val="bg1"/>
              </a:solidFill>
              <a:effectLst/>
              <a:latin typeface="Arial Black" panose="020B0A04020102020204" charset="0"/>
              <a:ea typeface="Arial" panose="020B0604020202020204" pitchFamily="34" charset="0"/>
              <a:cs typeface="Arial Black" panose="020B0A04020102020204" charset="0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 rotWithShape="1">
          <a:blip r:embed="rId2"/>
          <a:srcRect l="36713" t="47403" b="12967"/>
          <a:stretch>
            <a:fillRect/>
          </a:stretch>
        </p:blipFill>
        <p:spPr>
          <a:xfrm>
            <a:off x="0" y="-185"/>
            <a:ext cx="4286250" cy="2682924"/>
          </a:xfrm>
          <a:custGeom>
            <a:avLst/>
            <a:gdLst>
              <a:gd name="connsiteX0" fmla="*/ 0 w 4819031"/>
              <a:gd name="connsiteY0" fmla="*/ 0 h 3016412"/>
              <a:gd name="connsiteX1" fmla="*/ 4819031 w 4819031"/>
              <a:gd name="connsiteY1" fmla="*/ 0 h 3016412"/>
              <a:gd name="connsiteX2" fmla="*/ 4819031 w 4819031"/>
              <a:gd name="connsiteY2" fmla="*/ 3016412 h 3016412"/>
              <a:gd name="connsiteX3" fmla="*/ 0 w 4819031"/>
              <a:gd name="connsiteY3" fmla="*/ 3016412 h 301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9031" h="3016412">
                <a:moveTo>
                  <a:pt x="0" y="0"/>
                </a:moveTo>
                <a:lnTo>
                  <a:pt x="4819031" y="0"/>
                </a:lnTo>
                <a:lnTo>
                  <a:pt x="4819031" y="3016412"/>
                </a:lnTo>
                <a:lnTo>
                  <a:pt x="0" y="3016412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8000">
              <a:srgbClr val="190985"/>
            </a:gs>
            <a:gs pos="100000">
              <a:srgbClr val="1B59A7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图片 89"/>
          <p:cNvPicPr>
            <a:picLocks noChangeAspect="1"/>
          </p:cNvPicPr>
          <p:nvPr/>
        </p:nvPicPr>
        <p:blipFill>
          <a:blip r:embed="rId1"/>
          <a:srcRect r="24556" b="42640"/>
          <a:stretch>
            <a:fillRect/>
          </a:stretch>
        </p:blipFill>
        <p:spPr>
          <a:xfrm>
            <a:off x="3595572" y="322166"/>
            <a:ext cx="8596428" cy="6535834"/>
          </a:xfrm>
          <a:custGeom>
            <a:avLst/>
            <a:gdLst>
              <a:gd name="connsiteX0" fmla="*/ 0 w 8596428"/>
              <a:gd name="connsiteY0" fmla="*/ 0 h 6535834"/>
              <a:gd name="connsiteX1" fmla="*/ 8596428 w 8596428"/>
              <a:gd name="connsiteY1" fmla="*/ 0 h 6535834"/>
              <a:gd name="connsiteX2" fmla="*/ 8596428 w 8596428"/>
              <a:gd name="connsiteY2" fmla="*/ 6535834 h 6535834"/>
              <a:gd name="connsiteX3" fmla="*/ 0 w 8596428"/>
              <a:gd name="connsiteY3" fmla="*/ 6535834 h 653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96428" h="6535834">
                <a:moveTo>
                  <a:pt x="0" y="0"/>
                </a:moveTo>
                <a:lnTo>
                  <a:pt x="8596428" y="0"/>
                </a:lnTo>
                <a:lnTo>
                  <a:pt x="8596428" y="6535834"/>
                </a:lnTo>
                <a:lnTo>
                  <a:pt x="0" y="6535834"/>
                </a:lnTo>
                <a:close/>
              </a:path>
            </a:pathLst>
          </a:custGeom>
        </p:spPr>
      </p:pic>
      <p:pic>
        <p:nvPicPr>
          <p:cNvPr id="97" name="图片 96"/>
          <p:cNvPicPr>
            <a:picLocks noChangeAspect="1"/>
          </p:cNvPicPr>
          <p:nvPr/>
        </p:nvPicPr>
        <p:blipFill rotWithShape="1">
          <a:blip r:embed="rId2"/>
          <a:srcRect l="30135" t="41982" b="12967"/>
          <a:stretch>
            <a:fillRect/>
          </a:stretch>
        </p:blipFill>
        <p:spPr>
          <a:xfrm>
            <a:off x="0" y="0"/>
            <a:ext cx="10639842" cy="6858000"/>
          </a:xfrm>
          <a:custGeom>
            <a:avLst/>
            <a:gdLst>
              <a:gd name="connsiteX0" fmla="*/ 0 w 10639842"/>
              <a:gd name="connsiteY0" fmla="*/ 0 h 6858000"/>
              <a:gd name="connsiteX1" fmla="*/ 10639842 w 10639842"/>
              <a:gd name="connsiteY1" fmla="*/ 0 h 6858000"/>
              <a:gd name="connsiteX2" fmla="*/ 10639842 w 10639842"/>
              <a:gd name="connsiteY2" fmla="*/ 6858000 h 6858000"/>
              <a:gd name="connsiteX3" fmla="*/ 0 w 1063984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39842" h="6858000">
                <a:moveTo>
                  <a:pt x="0" y="0"/>
                </a:moveTo>
                <a:lnTo>
                  <a:pt x="10639842" y="0"/>
                </a:lnTo>
                <a:lnTo>
                  <a:pt x="1063984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13" name="图片 112"/>
          <p:cNvPicPr>
            <a:picLocks noChangeAspect="1"/>
          </p:cNvPicPr>
          <p:nvPr/>
        </p:nvPicPr>
        <p:blipFill>
          <a:blip r:embed="rId3"/>
          <a:srcRect l="27603" t="64262"/>
          <a:stretch>
            <a:fillRect/>
          </a:stretch>
        </p:blipFill>
        <p:spPr>
          <a:xfrm>
            <a:off x="1" y="0"/>
            <a:ext cx="8550511" cy="4060993"/>
          </a:xfrm>
          <a:custGeom>
            <a:avLst/>
            <a:gdLst>
              <a:gd name="connsiteX0" fmla="*/ 0 w 8550511"/>
              <a:gd name="connsiteY0" fmla="*/ 0 h 4060993"/>
              <a:gd name="connsiteX1" fmla="*/ 8550511 w 8550511"/>
              <a:gd name="connsiteY1" fmla="*/ 0 h 4060993"/>
              <a:gd name="connsiteX2" fmla="*/ 8550511 w 8550511"/>
              <a:gd name="connsiteY2" fmla="*/ 4060993 h 4060993"/>
              <a:gd name="connsiteX3" fmla="*/ 0 w 8550511"/>
              <a:gd name="connsiteY3" fmla="*/ 4060993 h 4060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50511" h="4060993">
                <a:moveTo>
                  <a:pt x="0" y="0"/>
                </a:moveTo>
                <a:lnTo>
                  <a:pt x="8550511" y="0"/>
                </a:lnTo>
                <a:lnTo>
                  <a:pt x="8550511" y="4060993"/>
                </a:lnTo>
                <a:lnTo>
                  <a:pt x="0" y="4060993"/>
                </a:lnTo>
                <a:close/>
              </a:path>
            </a:pathLst>
          </a:custGeom>
        </p:spPr>
      </p:pic>
      <p:pic>
        <p:nvPicPr>
          <p:cNvPr id="119" name="图片 118"/>
          <p:cNvPicPr>
            <a:picLocks noChangeAspect="1"/>
          </p:cNvPicPr>
          <p:nvPr/>
        </p:nvPicPr>
        <p:blipFill rotWithShape="1">
          <a:blip r:embed="rId4"/>
          <a:srcRect l="-13545" t="1" r="34945" b="41439"/>
          <a:stretch>
            <a:fillRect/>
          </a:stretch>
        </p:blipFill>
        <p:spPr>
          <a:xfrm rot="605302">
            <a:off x="5994360" y="2794755"/>
            <a:ext cx="6459513" cy="4612577"/>
          </a:xfrm>
          <a:custGeom>
            <a:avLst/>
            <a:gdLst>
              <a:gd name="connsiteX0" fmla="*/ 0 w 6459513"/>
              <a:gd name="connsiteY0" fmla="*/ 0 h 4612577"/>
              <a:gd name="connsiteX1" fmla="*/ 5833918 w 6459513"/>
              <a:gd name="connsiteY1" fmla="*/ 0 h 4612577"/>
              <a:gd name="connsiteX2" fmla="*/ 6459513 w 6459513"/>
              <a:gd name="connsiteY2" fmla="*/ 3516206 h 4612577"/>
              <a:gd name="connsiteX3" fmla="*/ 297276 w 6459513"/>
              <a:gd name="connsiteY3" fmla="*/ 4612577 h 461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59513" h="4612577">
                <a:moveTo>
                  <a:pt x="0" y="0"/>
                </a:moveTo>
                <a:lnTo>
                  <a:pt x="5833918" y="0"/>
                </a:lnTo>
                <a:lnTo>
                  <a:pt x="6459513" y="3516206"/>
                </a:lnTo>
                <a:lnTo>
                  <a:pt x="297276" y="4612577"/>
                </a:lnTo>
                <a:close/>
              </a:path>
            </a:pathLst>
          </a:custGeom>
        </p:spPr>
      </p:pic>
      <p:sp>
        <p:nvSpPr>
          <p:cNvPr id="17" name="任意多边形: 形状 16"/>
          <p:cNvSpPr/>
          <p:nvPr/>
        </p:nvSpPr>
        <p:spPr>
          <a:xfrm>
            <a:off x="1" y="0"/>
            <a:ext cx="1837206" cy="6858000"/>
          </a:xfrm>
          <a:custGeom>
            <a:avLst/>
            <a:gdLst>
              <a:gd name="connsiteX0" fmla="*/ 0 w 2347833"/>
              <a:gd name="connsiteY0" fmla="*/ 0 h 6858000"/>
              <a:gd name="connsiteX1" fmla="*/ 2347833 w 2347833"/>
              <a:gd name="connsiteY1" fmla="*/ 0 h 6858000"/>
              <a:gd name="connsiteX2" fmla="*/ 2347833 w 2347833"/>
              <a:gd name="connsiteY2" fmla="*/ 6858000 h 6858000"/>
              <a:gd name="connsiteX3" fmla="*/ 0 w 234783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47833" h="6858000">
                <a:moveTo>
                  <a:pt x="0" y="0"/>
                </a:moveTo>
                <a:lnTo>
                  <a:pt x="2347833" y="0"/>
                </a:lnTo>
                <a:lnTo>
                  <a:pt x="2347833" y="6858000"/>
                </a:lnTo>
                <a:lnTo>
                  <a:pt x="0" y="6858000"/>
                </a:lnTo>
                <a:close/>
              </a:path>
            </a:pathLst>
          </a:custGeom>
          <a:gradFill>
            <a:gsLst>
              <a:gs pos="38000">
                <a:srgbClr val="020457"/>
              </a:gs>
              <a:gs pos="100000">
                <a:srgbClr val="06023D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837055" y="1140460"/>
            <a:ext cx="934085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ctr"/>
            <a:r>
              <a:rPr lang="pt-BR" altLang="en-US" sz="8000" b="0" i="0" u="none" strike="noStrike" dirty="0">
                <a:solidFill>
                  <a:schemeClr val="bg1"/>
                </a:solidFill>
                <a:effectLst/>
                <a:latin typeface="Arial Black" panose="020B0A04020102020204" charset="0"/>
                <a:ea typeface="Arial" panose="020B0604020202020204" pitchFamily="34" charset="0"/>
                <a:cs typeface="Arial Black" panose="020B0A04020102020204" charset="0"/>
              </a:rPr>
              <a:t>Obrigado pela atenção!</a:t>
            </a:r>
            <a:endParaRPr lang="pt-BR" altLang="en-US" sz="8000" b="0" i="0" u="none" strike="noStrike" dirty="0">
              <a:solidFill>
                <a:schemeClr val="bg1"/>
              </a:solidFill>
              <a:effectLst/>
              <a:latin typeface="Arial Black" panose="020B0A04020102020204" charset="0"/>
              <a:ea typeface="Arial" panose="020B0604020202020204" pitchFamily="3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jM5MTBlNmI2YTY3ZjIxYzUzNmRhMGQyM2YxMDkyYj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海外衬线复古01">
      <a:majorFont>
        <a:latin typeface="DM Serif Display"/>
        <a:ea typeface=""/>
        <a:cs typeface=""/>
      </a:majorFont>
      <a:minorFont>
        <a:latin typeface="Gilro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3552</Words>
  <Application>WPS Presentation</Application>
  <PresentationFormat>宽屏</PresentationFormat>
  <Paragraphs>78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Microsoft YaHei</vt:lpstr>
      <vt:lpstr>Arial Black</vt:lpstr>
      <vt:lpstr>Gilroy</vt:lpstr>
      <vt:lpstr>Wingdings</vt:lpstr>
      <vt:lpstr>Arial Unicode MS</vt:lpstr>
      <vt:lpstr>DM Serif Display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abbey</dc:creator>
  <cp:lastModifiedBy>WPS_1760985122</cp:lastModifiedBy>
  <cp:revision>21</cp:revision>
  <dcterms:created xsi:type="dcterms:W3CDTF">2023-03-30T01:36:00Z</dcterms:created>
  <dcterms:modified xsi:type="dcterms:W3CDTF">2025-12-04T23:08:21Z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48490EDA9FA443D3B22EE41B0DCB97EE_13</vt:lpwstr>
  </property>
  <property fmtid="{D5CDD505-2E9C-101B-9397-08002B2CF9AE}" pid="3" name="KSOProductBuildVer">
    <vt:lpwstr>1046-12.2.0.23155</vt:lpwstr>
  </property>
</Properties>
</file>